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3" r:id="rId3"/>
    <p:sldId id="262" r:id="rId4"/>
    <p:sldId id="264" r:id="rId5"/>
    <p:sldId id="275" r:id="rId6"/>
    <p:sldId id="266" r:id="rId7"/>
    <p:sldId id="276" r:id="rId8"/>
    <p:sldId id="277" r:id="rId9"/>
    <p:sldId id="278" r:id="rId10"/>
    <p:sldId id="267" r:id="rId11"/>
    <p:sldId id="271" r:id="rId12"/>
    <p:sldId id="274" r:id="rId13"/>
    <p:sldId id="270"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63"/>
    <p:restoredTop sz="67626" autoAdjust="0"/>
  </p:normalViewPr>
  <p:slideViewPr>
    <p:cSldViewPr snapToGrid="0">
      <p:cViewPr varScale="1">
        <p:scale>
          <a:sx n="75" d="100"/>
          <a:sy n="75" d="100"/>
        </p:scale>
        <p:origin x="190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BC0E6F-CE96-4238-BA7E-0310DDE3FE27}" type="doc">
      <dgm:prSet loTypeId="urn:microsoft.com/office/officeart/2016/7/layout/BasicLinearProcessNumbered" loCatId="process" qsTypeId="urn:microsoft.com/office/officeart/2005/8/quickstyle/simple4" qsCatId="simple" csTypeId="urn:microsoft.com/office/officeart/2005/8/colors/colorful5" csCatId="colorful"/>
      <dgm:spPr/>
      <dgm:t>
        <a:bodyPr/>
        <a:lstStyle/>
        <a:p>
          <a:endParaRPr lang="en-US"/>
        </a:p>
      </dgm:t>
    </dgm:pt>
    <dgm:pt modelId="{CA5ECFD1-87E7-486C-A6FC-36C352A67843}">
      <dgm:prSet/>
      <dgm:spPr/>
      <dgm:t>
        <a:bodyPr/>
        <a:lstStyle/>
        <a:p>
          <a:r>
            <a:rPr lang="en-US" b="0" i="0"/>
            <a:t>Implement the Apriori algorithm to discover product associations</a:t>
          </a:r>
          <a:endParaRPr lang="en-US"/>
        </a:p>
      </dgm:t>
    </dgm:pt>
    <dgm:pt modelId="{6801293E-6919-4EF7-9424-4CE08CAA3DE5}" type="parTrans" cxnId="{7A4084B4-3E38-4F59-8668-6CCB51AB99B3}">
      <dgm:prSet/>
      <dgm:spPr/>
      <dgm:t>
        <a:bodyPr/>
        <a:lstStyle/>
        <a:p>
          <a:endParaRPr lang="en-US"/>
        </a:p>
      </dgm:t>
    </dgm:pt>
    <dgm:pt modelId="{D3CDFB5F-B2B8-45E4-8628-604FF3259422}" type="sibTrans" cxnId="{7A4084B4-3E38-4F59-8668-6CCB51AB99B3}">
      <dgm:prSet phldrT="1" phldr="0"/>
      <dgm:spPr/>
      <dgm:t>
        <a:bodyPr/>
        <a:lstStyle/>
        <a:p>
          <a:r>
            <a:rPr lang="en-US"/>
            <a:t>1</a:t>
          </a:r>
        </a:p>
      </dgm:t>
    </dgm:pt>
    <dgm:pt modelId="{224EF375-E7BF-40ED-BCB5-3887DC447F1F}">
      <dgm:prSet/>
      <dgm:spPr/>
      <dgm:t>
        <a:bodyPr/>
        <a:lstStyle/>
        <a:p>
          <a:r>
            <a:rPr lang="en-US" b="0" i="0"/>
            <a:t>Build a Flask-based analytics dashboard to visualize the results</a:t>
          </a:r>
          <a:endParaRPr lang="en-US"/>
        </a:p>
      </dgm:t>
    </dgm:pt>
    <dgm:pt modelId="{E3B493D9-2275-44AE-B848-07EFA4DF079F}" type="parTrans" cxnId="{57067888-C25E-40FD-82E7-567100913265}">
      <dgm:prSet/>
      <dgm:spPr/>
      <dgm:t>
        <a:bodyPr/>
        <a:lstStyle/>
        <a:p>
          <a:endParaRPr lang="en-US"/>
        </a:p>
      </dgm:t>
    </dgm:pt>
    <dgm:pt modelId="{4CCA2AC5-AB29-4777-A05C-214DA4F49CBA}" type="sibTrans" cxnId="{57067888-C25E-40FD-82E7-567100913265}">
      <dgm:prSet phldrT="2" phldr="0"/>
      <dgm:spPr/>
      <dgm:t>
        <a:bodyPr/>
        <a:lstStyle/>
        <a:p>
          <a:r>
            <a:rPr lang="en-US"/>
            <a:t>2</a:t>
          </a:r>
        </a:p>
      </dgm:t>
    </dgm:pt>
    <dgm:pt modelId="{D49FF68D-DD03-4AFA-A3FA-AD8E36D45F6C}">
      <dgm:prSet/>
      <dgm:spPr/>
      <dgm:t>
        <a:bodyPr/>
        <a:lstStyle/>
        <a:p>
          <a:r>
            <a:rPr lang="en-US" b="0" i="0"/>
            <a:t>Generate product recommendations based on association rules</a:t>
          </a:r>
          <a:endParaRPr lang="en-US"/>
        </a:p>
      </dgm:t>
    </dgm:pt>
    <dgm:pt modelId="{8E44F49A-FD1E-4882-8C4B-E14DB45086DF}" type="parTrans" cxnId="{0FCEB834-7EAA-480E-A4D5-97CA50E170B2}">
      <dgm:prSet/>
      <dgm:spPr/>
      <dgm:t>
        <a:bodyPr/>
        <a:lstStyle/>
        <a:p>
          <a:endParaRPr lang="en-US"/>
        </a:p>
      </dgm:t>
    </dgm:pt>
    <dgm:pt modelId="{762D0924-C073-447E-907A-5A4682007812}" type="sibTrans" cxnId="{0FCEB834-7EAA-480E-A4D5-97CA50E170B2}">
      <dgm:prSet phldrT="3" phldr="0"/>
      <dgm:spPr/>
      <dgm:t>
        <a:bodyPr/>
        <a:lstStyle/>
        <a:p>
          <a:r>
            <a:rPr lang="en-US"/>
            <a:t>3</a:t>
          </a:r>
        </a:p>
      </dgm:t>
    </dgm:pt>
    <dgm:pt modelId="{A5394E45-602A-41A9-90A0-F42F7119E8AC}">
      <dgm:prSet/>
      <dgm:spPr/>
      <dgm:t>
        <a:bodyPr/>
        <a:lstStyle/>
        <a:p>
          <a:r>
            <a:rPr lang="en-US" b="0" i="0"/>
            <a:t>Provide actionable insights for business strategy</a:t>
          </a:r>
          <a:endParaRPr lang="en-US"/>
        </a:p>
      </dgm:t>
    </dgm:pt>
    <dgm:pt modelId="{79C78E9A-F30E-4B9C-93E5-D47C665B918B}" type="parTrans" cxnId="{48D29815-E866-437B-B4B6-1D9DA5A1DFDA}">
      <dgm:prSet/>
      <dgm:spPr/>
      <dgm:t>
        <a:bodyPr/>
        <a:lstStyle/>
        <a:p>
          <a:endParaRPr lang="en-US"/>
        </a:p>
      </dgm:t>
    </dgm:pt>
    <dgm:pt modelId="{1C78973F-DDEB-408A-AB63-541F88F2F4BB}" type="sibTrans" cxnId="{48D29815-E866-437B-B4B6-1D9DA5A1DFDA}">
      <dgm:prSet phldrT="4" phldr="0"/>
      <dgm:spPr/>
      <dgm:t>
        <a:bodyPr/>
        <a:lstStyle/>
        <a:p>
          <a:r>
            <a:rPr lang="en-US"/>
            <a:t>4</a:t>
          </a:r>
        </a:p>
      </dgm:t>
    </dgm:pt>
    <dgm:pt modelId="{DA72A9E4-6D9E-4194-B337-46998ABC22C3}" type="pres">
      <dgm:prSet presAssocID="{38BC0E6F-CE96-4238-BA7E-0310DDE3FE27}" presName="Name0" presStyleCnt="0">
        <dgm:presLayoutVars>
          <dgm:animLvl val="lvl"/>
          <dgm:resizeHandles val="exact"/>
        </dgm:presLayoutVars>
      </dgm:prSet>
      <dgm:spPr/>
    </dgm:pt>
    <dgm:pt modelId="{80E77DF5-6530-49A0-8765-B270BB8BAFF3}" type="pres">
      <dgm:prSet presAssocID="{CA5ECFD1-87E7-486C-A6FC-36C352A67843}" presName="compositeNode" presStyleCnt="0">
        <dgm:presLayoutVars>
          <dgm:bulletEnabled val="1"/>
        </dgm:presLayoutVars>
      </dgm:prSet>
      <dgm:spPr/>
    </dgm:pt>
    <dgm:pt modelId="{D6891377-7945-4B1C-B6F6-CF8618141F99}" type="pres">
      <dgm:prSet presAssocID="{CA5ECFD1-87E7-486C-A6FC-36C352A67843}" presName="bgRect" presStyleLbl="bgAccFollowNode1" presStyleIdx="0" presStyleCnt="4"/>
      <dgm:spPr/>
    </dgm:pt>
    <dgm:pt modelId="{3BFDDBAE-4F23-4A45-8600-6C33B107078B}" type="pres">
      <dgm:prSet presAssocID="{D3CDFB5F-B2B8-45E4-8628-604FF3259422}" presName="sibTransNodeCircle" presStyleLbl="alignNode1" presStyleIdx="0" presStyleCnt="8">
        <dgm:presLayoutVars>
          <dgm:chMax val="0"/>
          <dgm:bulletEnabled/>
        </dgm:presLayoutVars>
      </dgm:prSet>
      <dgm:spPr/>
    </dgm:pt>
    <dgm:pt modelId="{0480CF9D-E0DA-4DD9-8484-301F5B10ABAB}" type="pres">
      <dgm:prSet presAssocID="{CA5ECFD1-87E7-486C-A6FC-36C352A67843}" presName="bottomLine" presStyleLbl="alignNode1" presStyleIdx="1" presStyleCnt="8">
        <dgm:presLayoutVars/>
      </dgm:prSet>
      <dgm:spPr/>
    </dgm:pt>
    <dgm:pt modelId="{4F81F29A-C605-4D07-B389-E0D8966C6C79}" type="pres">
      <dgm:prSet presAssocID="{CA5ECFD1-87E7-486C-A6FC-36C352A67843}" presName="nodeText" presStyleLbl="bgAccFollowNode1" presStyleIdx="0" presStyleCnt="4">
        <dgm:presLayoutVars>
          <dgm:bulletEnabled val="1"/>
        </dgm:presLayoutVars>
      </dgm:prSet>
      <dgm:spPr/>
    </dgm:pt>
    <dgm:pt modelId="{3FF5FD60-4879-4F93-A1E1-BD17B1DD8944}" type="pres">
      <dgm:prSet presAssocID="{D3CDFB5F-B2B8-45E4-8628-604FF3259422}" presName="sibTrans" presStyleCnt="0"/>
      <dgm:spPr/>
    </dgm:pt>
    <dgm:pt modelId="{2DE1AFD6-54F4-4426-A348-05E30DE427A0}" type="pres">
      <dgm:prSet presAssocID="{224EF375-E7BF-40ED-BCB5-3887DC447F1F}" presName="compositeNode" presStyleCnt="0">
        <dgm:presLayoutVars>
          <dgm:bulletEnabled val="1"/>
        </dgm:presLayoutVars>
      </dgm:prSet>
      <dgm:spPr/>
    </dgm:pt>
    <dgm:pt modelId="{AD627F06-28B3-4A8B-A975-61984FAE5CFF}" type="pres">
      <dgm:prSet presAssocID="{224EF375-E7BF-40ED-BCB5-3887DC447F1F}" presName="bgRect" presStyleLbl="bgAccFollowNode1" presStyleIdx="1" presStyleCnt="4"/>
      <dgm:spPr/>
    </dgm:pt>
    <dgm:pt modelId="{33B2AA82-C844-453B-A942-9559A002B4E9}" type="pres">
      <dgm:prSet presAssocID="{4CCA2AC5-AB29-4777-A05C-214DA4F49CBA}" presName="sibTransNodeCircle" presStyleLbl="alignNode1" presStyleIdx="2" presStyleCnt="8">
        <dgm:presLayoutVars>
          <dgm:chMax val="0"/>
          <dgm:bulletEnabled/>
        </dgm:presLayoutVars>
      </dgm:prSet>
      <dgm:spPr/>
    </dgm:pt>
    <dgm:pt modelId="{D582FDAE-EFE3-4ED8-A86F-152FECD0F7EC}" type="pres">
      <dgm:prSet presAssocID="{224EF375-E7BF-40ED-BCB5-3887DC447F1F}" presName="bottomLine" presStyleLbl="alignNode1" presStyleIdx="3" presStyleCnt="8">
        <dgm:presLayoutVars/>
      </dgm:prSet>
      <dgm:spPr/>
    </dgm:pt>
    <dgm:pt modelId="{F2E63030-69B6-4038-9EE1-1A2C76CD1413}" type="pres">
      <dgm:prSet presAssocID="{224EF375-E7BF-40ED-BCB5-3887DC447F1F}" presName="nodeText" presStyleLbl="bgAccFollowNode1" presStyleIdx="1" presStyleCnt="4">
        <dgm:presLayoutVars>
          <dgm:bulletEnabled val="1"/>
        </dgm:presLayoutVars>
      </dgm:prSet>
      <dgm:spPr/>
    </dgm:pt>
    <dgm:pt modelId="{AEB54107-9647-4180-BF22-43127DA178F2}" type="pres">
      <dgm:prSet presAssocID="{4CCA2AC5-AB29-4777-A05C-214DA4F49CBA}" presName="sibTrans" presStyleCnt="0"/>
      <dgm:spPr/>
    </dgm:pt>
    <dgm:pt modelId="{2656DCFE-95E0-46B7-946E-A5D5D22F7BEC}" type="pres">
      <dgm:prSet presAssocID="{D49FF68D-DD03-4AFA-A3FA-AD8E36D45F6C}" presName="compositeNode" presStyleCnt="0">
        <dgm:presLayoutVars>
          <dgm:bulletEnabled val="1"/>
        </dgm:presLayoutVars>
      </dgm:prSet>
      <dgm:spPr/>
    </dgm:pt>
    <dgm:pt modelId="{F34D809D-6205-484E-9B2F-3B934F198C0D}" type="pres">
      <dgm:prSet presAssocID="{D49FF68D-DD03-4AFA-A3FA-AD8E36D45F6C}" presName="bgRect" presStyleLbl="bgAccFollowNode1" presStyleIdx="2" presStyleCnt="4"/>
      <dgm:spPr/>
    </dgm:pt>
    <dgm:pt modelId="{7EA3A7A6-EC72-4B2C-933C-BE1B4272EC1F}" type="pres">
      <dgm:prSet presAssocID="{762D0924-C073-447E-907A-5A4682007812}" presName="sibTransNodeCircle" presStyleLbl="alignNode1" presStyleIdx="4" presStyleCnt="8">
        <dgm:presLayoutVars>
          <dgm:chMax val="0"/>
          <dgm:bulletEnabled/>
        </dgm:presLayoutVars>
      </dgm:prSet>
      <dgm:spPr/>
    </dgm:pt>
    <dgm:pt modelId="{FF9CA573-EEA5-4BE3-9815-D4EB08A9C809}" type="pres">
      <dgm:prSet presAssocID="{D49FF68D-DD03-4AFA-A3FA-AD8E36D45F6C}" presName="bottomLine" presStyleLbl="alignNode1" presStyleIdx="5" presStyleCnt="8">
        <dgm:presLayoutVars/>
      </dgm:prSet>
      <dgm:spPr/>
    </dgm:pt>
    <dgm:pt modelId="{98746D88-0B0A-40B6-B38C-41E100CB3476}" type="pres">
      <dgm:prSet presAssocID="{D49FF68D-DD03-4AFA-A3FA-AD8E36D45F6C}" presName="nodeText" presStyleLbl="bgAccFollowNode1" presStyleIdx="2" presStyleCnt="4">
        <dgm:presLayoutVars>
          <dgm:bulletEnabled val="1"/>
        </dgm:presLayoutVars>
      </dgm:prSet>
      <dgm:spPr/>
    </dgm:pt>
    <dgm:pt modelId="{B0A874EC-5CB9-41C5-AF81-DEEBFBC9FE85}" type="pres">
      <dgm:prSet presAssocID="{762D0924-C073-447E-907A-5A4682007812}" presName="sibTrans" presStyleCnt="0"/>
      <dgm:spPr/>
    </dgm:pt>
    <dgm:pt modelId="{7FFCC4CC-6CA8-4781-BE3E-60FF0D80CB50}" type="pres">
      <dgm:prSet presAssocID="{A5394E45-602A-41A9-90A0-F42F7119E8AC}" presName="compositeNode" presStyleCnt="0">
        <dgm:presLayoutVars>
          <dgm:bulletEnabled val="1"/>
        </dgm:presLayoutVars>
      </dgm:prSet>
      <dgm:spPr/>
    </dgm:pt>
    <dgm:pt modelId="{6A8C849C-D495-4B84-8353-C55E7C6E4024}" type="pres">
      <dgm:prSet presAssocID="{A5394E45-602A-41A9-90A0-F42F7119E8AC}" presName="bgRect" presStyleLbl="bgAccFollowNode1" presStyleIdx="3" presStyleCnt="4"/>
      <dgm:spPr/>
    </dgm:pt>
    <dgm:pt modelId="{FABF3243-F4C4-48B1-AD08-94BDA8047EC8}" type="pres">
      <dgm:prSet presAssocID="{1C78973F-DDEB-408A-AB63-541F88F2F4BB}" presName="sibTransNodeCircle" presStyleLbl="alignNode1" presStyleIdx="6" presStyleCnt="8">
        <dgm:presLayoutVars>
          <dgm:chMax val="0"/>
          <dgm:bulletEnabled/>
        </dgm:presLayoutVars>
      </dgm:prSet>
      <dgm:spPr/>
    </dgm:pt>
    <dgm:pt modelId="{DE4B22AB-322A-4215-8A16-65B1D83AED87}" type="pres">
      <dgm:prSet presAssocID="{A5394E45-602A-41A9-90A0-F42F7119E8AC}" presName="bottomLine" presStyleLbl="alignNode1" presStyleIdx="7" presStyleCnt="8">
        <dgm:presLayoutVars/>
      </dgm:prSet>
      <dgm:spPr/>
    </dgm:pt>
    <dgm:pt modelId="{049A069B-50A2-42EA-B846-1F27B8718D85}" type="pres">
      <dgm:prSet presAssocID="{A5394E45-602A-41A9-90A0-F42F7119E8AC}" presName="nodeText" presStyleLbl="bgAccFollowNode1" presStyleIdx="3" presStyleCnt="4">
        <dgm:presLayoutVars>
          <dgm:bulletEnabled val="1"/>
        </dgm:presLayoutVars>
      </dgm:prSet>
      <dgm:spPr/>
    </dgm:pt>
  </dgm:ptLst>
  <dgm:cxnLst>
    <dgm:cxn modelId="{90899611-07DF-4B1A-BD87-CC54E3C611FC}" type="presOf" srcId="{38BC0E6F-CE96-4238-BA7E-0310DDE3FE27}" destId="{DA72A9E4-6D9E-4194-B337-46998ABC22C3}" srcOrd="0" destOrd="0" presId="urn:microsoft.com/office/officeart/2016/7/layout/BasicLinearProcessNumbered"/>
    <dgm:cxn modelId="{48D29815-E866-437B-B4B6-1D9DA5A1DFDA}" srcId="{38BC0E6F-CE96-4238-BA7E-0310DDE3FE27}" destId="{A5394E45-602A-41A9-90A0-F42F7119E8AC}" srcOrd="3" destOrd="0" parTransId="{79C78E9A-F30E-4B9C-93E5-D47C665B918B}" sibTransId="{1C78973F-DDEB-408A-AB63-541F88F2F4BB}"/>
    <dgm:cxn modelId="{0FCEB834-7EAA-480E-A4D5-97CA50E170B2}" srcId="{38BC0E6F-CE96-4238-BA7E-0310DDE3FE27}" destId="{D49FF68D-DD03-4AFA-A3FA-AD8E36D45F6C}" srcOrd="2" destOrd="0" parTransId="{8E44F49A-FD1E-4882-8C4B-E14DB45086DF}" sibTransId="{762D0924-C073-447E-907A-5A4682007812}"/>
    <dgm:cxn modelId="{6B660F69-967A-42DF-850C-4B9BE58F1293}" type="presOf" srcId="{A5394E45-602A-41A9-90A0-F42F7119E8AC}" destId="{049A069B-50A2-42EA-B846-1F27B8718D85}" srcOrd="1" destOrd="0" presId="urn:microsoft.com/office/officeart/2016/7/layout/BasicLinearProcessNumbered"/>
    <dgm:cxn modelId="{F000DC50-0A10-461E-A20D-8DBC68A6353C}" type="presOf" srcId="{CA5ECFD1-87E7-486C-A6FC-36C352A67843}" destId="{4F81F29A-C605-4D07-B389-E0D8966C6C79}" srcOrd="1" destOrd="0" presId="urn:microsoft.com/office/officeart/2016/7/layout/BasicLinearProcessNumbered"/>
    <dgm:cxn modelId="{6E6DCF56-5DE8-44C9-9680-7A0E66AFA3B1}" type="presOf" srcId="{CA5ECFD1-87E7-486C-A6FC-36C352A67843}" destId="{D6891377-7945-4B1C-B6F6-CF8618141F99}" srcOrd="0" destOrd="0" presId="urn:microsoft.com/office/officeart/2016/7/layout/BasicLinearProcessNumbered"/>
    <dgm:cxn modelId="{60A53E5A-C25B-423A-B717-B721FC600B24}" type="presOf" srcId="{D3CDFB5F-B2B8-45E4-8628-604FF3259422}" destId="{3BFDDBAE-4F23-4A45-8600-6C33B107078B}" srcOrd="0" destOrd="0" presId="urn:microsoft.com/office/officeart/2016/7/layout/BasicLinearProcessNumbered"/>
    <dgm:cxn modelId="{57067888-C25E-40FD-82E7-567100913265}" srcId="{38BC0E6F-CE96-4238-BA7E-0310DDE3FE27}" destId="{224EF375-E7BF-40ED-BCB5-3887DC447F1F}" srcOrd="1" destOrd="0" parTransId="{E3B493D9-2275-44AE-B848-07EFA4DF079F}" sibTransId="{4CCA2AC5-AB29-4777-A05C-214DA4F49CBA}"/>
    <dgm:cxn modelId="{DFC27A9B-8224-4238-8C00-2A2EB387828A}" type="presOf" srcId="{D49FF68D-DD03-4AFA-A3FA-AD8E36D45F6C}" destId="{F34D809D-6205-484E-9B2F-3B934F198C0D}" srcOrd="0" destOrd="0" presId="urn:microsoft.com/office/officeart/2016/7/layout/BasicLinearProcessNumbered"/>
    <dgm:cxn modelId="{0D8305A9-D2E4-460B-872E-8AEADDCF7D45}" type="presOf" srcId="{D49FF68D-DD03-4AFA-A3FA-AD8E36D45F6C}" destId="{98746D88-0B0A-40B6-B38C-41E100CB3476}" srcOrd="1" destOrd="0" presId="urn:microsoft.com/office/officeart/2016/7/layout/BasicLinearProcessNumbered"/>
    <dgm:cxn modelId="{9873B7AD-E9AE-41F0-AFD7-32701CE681A2}" type="presOf" srcId="{1C78973F-DDEB-408A-AB63-541F88F2F4BB}" destId="{FABF3243-F4C4-48B1-AD08-94BDA8047EC8}" srcOrd="0" destOrd="0" presId="urn:microsoft.com/office/officeart/2016/7/layout/BasicLinearProcessNumbered"/>
    <dgm:cxn modelId="{1E3E1EB2-19CF-4ED5-B594-4C401CCA11C9}" type="presOf" srcId="{A5394E45-602A-41A9-90A0-F42F7119E8AC}" destId="{6A8C849C-D495-4B84-8353-C55E7C6E4024}" srcOrd="0" destOrd="0" presId="urn:microsoft.com/office/officeart/2016/7/layout/BasicLinearProcessNumbered"/>
    <dgm:cxn modelId="{7A4084B4-3E38-4F59-8668-6CCB51AB99B3}" srcId="{38BC0E6F-CE96-4238-BA7E-0310DDE3FE27}" destId="{CA5ECFD1-87E7-486C-A6FC-36C352A67843}" srcOrd="0" destOrd="0" parTransId="{6801293E-6919-4EF7-9424-4CE08CAA3DE5}" sibTransId="{D3CDFB5F-B2B8-45E4-8628-604FF3259422}"/>
    <dgm:cxn modelId="{DF7295B4-3E8C-40E5-8DFA-C68F00134C65}" type="presOf" srcId="{224EF375-E7BF-40ED-BCB5-3887DC447F1F}" destId="{F2E63030-69B6-4038-9EE1-1A2C76CD1413}" srcOrd="1" destOrd="0" presId="urn:microsoft.com/office/officeart/2016/7/layout/BasicLinearProcessNumbered"/>
    <dgm:cxn modelId="{541003D2-7911-4161-8516-B8C6DB82BA3F}" type="presOf" srcId="{224EF375-E7BF-40ED-BCB5-3887DC447F1F}" destId="{AD627F06-28B3-4A8B-A975-61984FAE5CFF}" srcOrd="0" destOrd="0" presId="urn:microsoft.com/office/officeart/2016/7/layout/BasicLinearProcessNumbered"/>
    <dgm:cxn modelId="{E0131EEB-AB2F-4694-A7B7-9E229D791184}" type="presOf" srcId="{762D0924-C073-447E-907A-5A4682007812}" destId="{7EA3A7A6-EC72-4B2C-933C-BE1B4272EC1F}" srcOrd="0" destOrd="0" presId="urn:microsoft.com/office/officeart/2016/7/layout/BasicLinearProcessNumbered"/>
    <dgm:cxn modelId="{05AAFDF5-8894-4F9D-BD5E-3640394AF0F7}" type="presOf" srcId="{4CCA2AC5-AB29-4777-A05C-214DA4F49CBA}" destId="{33B2AA82-C844-453B-A942-9559A002B4E9}" srcOrd="0" destOrd="0" presId="urn:microsoft.com/office/officeart/2016/7/layout/BasicLinearProcessNumbered"/>
    <dgm:cxn modelId="{29A7FECB-1DFF-423A-BC25-4E8616433DB7}" type="presParOf" srcId="{DA72A9E4-6D9E-4194-B337-46998ABC22C3}" destId="{80E77DF5-6530-49A0-8765-B270BB8BAFF3}" srcOrd="0" destOrd="0" presId="urn:microsoft.com/office/officeart/2016/7/layout/BasicLinearProcessNumbered"/>
    <dgm:cxn modelId="{C1148409-AEB5-481B-BAC9-045AEB8BA0D9}" type="presParOf" srcId="{80E77DF5-6530-49A0-8765-B270BB8BAFF3}" destId="{D6891377-7945-4B1C-B6F6-CF8618141F99}" srcOrd="0" destOrd="0" presId="urn:microsoft.com/office/officeart/2016/7/layout/BasicLinearProcessNumbered"/>
    <dgm:cxn modelId="{8FC5FE45-E706-4FCB-95CF-E09EA843952E}" type="presParOf" srcId="{80E77DF5-6530-49A0-8765-B270BB8BAFF3}" destId="{3BFDDBAE-4F23-4A45-8600-6C33B107078B}" srcOrd="1" destOrd="0" presId="urn:microsoft.com/office/officeart/2016/7/layout/BasicLinearProcessNumbered"/>
    <dgm:cxn modelId="{F9F3C2FE-148D-4E00-A9CF-EE197E710056}" type="presParOf" srcId="{80E77DF5-6530-49A0-8765-B270BB8BAFF3}" destId="{0480CF9D-E0DA-4DD9-8484-301F5B10ABAB}" srcOrd="2" destOrd="0" presId="urn:microsoft.com/office/officeart/2016/7/layout/BasicLinearProcessNumbered"/>
    <dgm:cxn modelId="{775D106E-A090-40A3-8501-346C2F423AD6}" type="presParOf" srcId="{80E77DF5-6530-49A0-8765-B270BB8BAFF3}" destId="{4F81F29A-C605-4D07-B389-E0D8966C6C79}" srcOrd="3" destOrd="0" presId="urn:microsoft.com/office/officeart/2016/7/layout/BasicLinearProcessNumbered"/>
    <dgm:cxn modelId="{6E3AD457-6000-409F-97D6-EF128EA38161}" type="presParOf" srcId="{DA72A9E4-6D9E-4194-B337-46998ABC22C3}" destId="{3FF5FD60-4879-4F93-A1E1-BD17B1DD8944}" srcOrd="1" destOrd="0" presId="urn:microsoft.com/office/officeart/2016/7/layout/BasicLinearProcessNumbered"/>
    <dgm:cxn modelId="{4D645758-DD12-4601-8594-01783C7E9B26}" type="presParOf" srcId="{DA72A9E4-6D9E-4194-B337-46998ABC22C3}" destId="{2DE1AFD6-54F4-4426-A348-05E30DE427A0}" srcOrd="2" destOrd="0" presId="urn:microsoft.com/office/officeart/2016/7/layout/BasicLinearProcessNumbered"/>
    <dgm:cxn modelId="{F6BF9C0C-2AC4-48FE-9E2D-56A56F8F9850}" type="presParOf" srcId="{2DE1AFD6-54F4-4426-A348-05E30DE427A0}" destId="{AD627F06-28B3-4A8B-A975-61984FAE5CFF}" srcOrd="0" destOrd="0" presId="urn:microsoft.com/office/officeart/2016/7/layout/BasicLinearProcessNumbered"/>
    <dgm:cxn modelId="{404DA591-D575-470E-BB44-8EE75D7320C1}" type="presParOf" srcId="{2DE1AFD6-54F4-4426-A348-05E30DE427A0}" destId="{33B2AA82-C844-453B-A942-9559A002B4E9}" srcOrd="1" destOrd="0" presId="urn:microsoft.com/office/officeart/2016/7/layout/BasicLinearProcessNumbered"/>
    <dgm:cxn modelId="{478F672B-0ADA-4C66-AB7E-73A41536164B}" type="presParOf" srcId="{2DE1AFD6-54F4-4426-A348-05E30DE427A0}" destId="{D582FDAE-EFE3-4ED8-A86F-152FECD0F7EC}" srcOrd="2" destOrd="0" presId="urn:microsoft.com/office/officeart/2016/7/layout/BasicLinearProcessNumbered"/>
    <dgm:cxn modelId="{08086122-EE8A-406F-9ECA-1F14E0042DBC}" type="presParOf" srcId="{2DE1AFD6-54F4-4426-A348-05E30DE427A0}" destId="{F2E63030-69B6-4038-9EE1-1A2C76CD1413}" srcOrd="3" destOrd="0" presId="urn:microsoft.com/office/officeart/2016/7/layout/BasicLinearProcessNumbered"/>
    <dgm:cxn modelId="{C17E8130-27C0-4807-8754-8BBCABDAC125}" type="presParOf" srcId="{DA72A9E4-6D9E-4194-B337-46998ABC22C3}" destId="{AEB54107-9647-4180-BF22-43127DA178F2}" srcOrd="3" destOrd="0" presId="urn:microsoft.com/office/officeart/2016/7/layout/BasicLinearProcessNumbered"/>
    <dgm:cxn modelId="{332BCA12-F15B-4A3A-8A96-8A54D9028519}" type="presParOf" srcId="{DA72A9E4-6D9E-4194-B337-46998ABC22C3}" destId="{2656DCFE-95E0-46B7-946E-A5D5D22F7BEC}" srcOrd="4" destOrd="0" presId="urn:microsoft.com/office/officeart/2016/7/layout/BasicLinearProcessNumbered"/>
    <dgm:cxn modelId="{6560F31C-19A6-4BF6-B275-BDE61FB74647}" type="presParOf" srcId="{2656DCFE-95E0-46B7-946E-A5D5D22F7BEC}" destId="{F34D809D-6205-484E-9B2F-3B934F198C0D}" srcOrd="0" destOrd="0" presId="urn:microsoft.com/office/officeart/2016/7/layout/BasicLinearProcessNumbered"/>
    <dgm:cxn modelId="{83F97651-2245-4B5B-9CF3-9E44A5F36BBE}" type="presParOf" srcId="{2656DCFE-95E0-46B7-946E-A5D5D22F7BEC}" destId="{7EA3A7A6-EC72-4B2C-933C-BE1B4272EC1F}" srcOrd="1" destOrd="0" presId="urn:microsoft.com/office/officeart/2016/7/layout/BasicLinearProcessNumbered"/>
    <dgm:cxn modelId="{453B939B-C765-495B-A8CE-A44D0398DB5E}" type="presParOf" srcId="{2656DCFE-95E0-46B7-946E-A5D5D22F7BEC}" destId="{FF9CA573-EEA5-4BE3-9815-D4EB08A9C809}" srcOrd="2" destOrd="0" presId="urn:microsoft.com/office/officeart/2016/7/layout/BasicLinearProcessNumbered"/>
    <dgm:cxn modelId="{7930E991-C305-4BB2-A1F0-048F4498438D}" type="presParOf" srcId="{2656DCFE-95E0-46B7-946E-A5D5D22F7BEC}" destId="{98746D88-0B0A-40B6-B38C-41E100CB3476}" srcOrd="3" destOrd="0" presId="urn:microsoft.com/office/officeart/2016/7/layout/BasicLinearProcessNumbered"/>
    <dgm:cxn modelId="{F3A8515C-A2CF-4C11-8CD0-30068C86EFE7}" type="presParOf" srcId="{DA72A9E4-6D9E-4194-B337-46998ABC22C3}" destId="{B0A874EC-5CB9-41C5-AF81-DEEBFBC9FE85}" srcOrd="5" destOrd="0" presId="urn:microsoft.com/office/officeart/2016/7/layout/BasicLinearProcessNumbered"/>
    <dgm:cxn modelId="{9CABD0B9-AE77-49AA-9968-4F1BE825B47B}" type="presParOf" srcId="{DA72A9E4-6D9E-4194-B337-46998ABC22C3}" destId="{7FFCC4CC-6CA8-4781-BE3E-60FF0D80CB50}" srcOrd="6" destOrd="0" presId="urn:microsoft.com/office/officeart/2016/7/layout/BasicLinearProcessNumbered"/>
    <dgm:cxn modelId="{BBDF1277-BD36-4B6B-A583-0363927886A9}" type="presParOf" srcId="{7FFCC4CC-6CA8-4781-BE3E-60FF0D80CB50}" destId="{6A8C849C-D495-4B84-8353-C55E7C6E4024}" srcOrd="0" destOrd="0" presId="urn:microsoft.com/office/officeart/2016/7/layout/BasicLinearProcessNumbered"/>
    <dgm:cxn modelId="{6BA0CDD1-F363-4338-85E6-4F72331E88FF}" type="presParOf" srcId="{7FFCC4CC-6CA8-4781-BE3E-60FF0D80CB50}" destId="{FABF3243-F4C4-48B1-AD08-94BDA8047EC8}" srcOrd="1" destOrd="0" presId="urn:microsoft.com/office/officeart/2016/7/layout/BasicLinearProcessNumbered"/>
    <dgm:cxn modelId="{F4CA4B92-806D-4BDB-8C07-DDF075BD0888}" type="presParOf" srcId="{7FFCC4CC-6CA8-4781-BE3E-60FF0D80CB50}" destId="{DE4B22AB-322A-4215-8A16-65B1D83AED87}" srcOrd="2" destOrd="0" presId="urn:microsoft.com/office/officeart/2016/7/layout/BasicLinearProcessNumbered"/>
    <dgm:cxn modelId="{03342831-1C9C-4D4A-B876-AF1BCB7D8B02}" type="presParOf" srcId="{7FFCC4CC-6CA8-4781-BE3E-60FF0D80CB50}" destId="{049A069B-50A2-42EA-B846-1F27B8718D85}"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34EE4B-81F5-4E11-A1DD-9DE24868B727}"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1106B692-D899-41D6-95EC-1B95E3577078}">
      <dgm:prSet/>
      <dgm:spPr/>
      <dgm:t>
        <a:bodyPr/>
        <a:lstStyle/>
        <a:p>
          <a:r>
            <a:rPr lang="en-US" b="0" i="0"/>
            <a:t>- Source: Kaggle e-commerce transaction dataset</a:t>
          </a:r>
          <a:endParaRPr lang="en-US"/>
        </a:p>
      </dgm:t>
    </dgm:pt>
    <dgm:pt modelId="{C991465C-9E44-4A68-A58F-349B531E2A33}" type="parTrans" cxnId="{15B9DE5F-FC0B-4BBE-8A12-7C53285BF703}">
      <dgm:prSet/>
      <dgm:spPr/>
      <dgm:t>
        <a:bodyPr/>
        <a:lstStyle/>
        <a:p>
          <a:endParaRPr lang="en-US"/>
        </a:p>
      </dgm:t>
    </dgm:pt>
    <dgm:pt modelId="{0CD6BE73-B502-4F37-BC9E-F35B578DE3F4}" type="sibTrans" cxnId="{15B9DE5F-FC0B-4BBE-8A12-7C53285BF703}">
      <dgm:prSet/>
      <dgm:spPr/>
      <dgm:t>
        <a:bodyPr/>
        <a:lstStyle/>
        <a:p>
          <a:endParaRPr lang="en-US"/>
        </a:p>
      </dgm:t>
    </dgm:pt>
    <dgm:pt modelId="{B5B289CD-62C8-4C8A-BE37-F71F9D77A5EB}">
      <dgm:prSet/>
      <dgm:spPr/>
      <dgm:t>
        <a:bodyPr/>
        <a:lstStyle/>
        <a:p>
          <a:r>
            <a:rPr lang="en-US" b="0" i="0"/>
            <a:t>- Volume: ~50000 transactions over 12 months, 4,000+ unique products</a:t>
          </a:r>
          <a:endParaRPr lang="en-US"/>
        </a:p>
      </dgm:t>
    </dgm:pt>
    <dgm:pt modelId="{6B3169AF-4A1F-4309-A793-32E718C445C3}" type="parTrans" cxnId="{AF24542C-F70F-42E5-9072-27BE85A709E9}">
      <dgm:prSet/>
      <dgm:spPr/>
      <dgm:t>
        <a:bodyPr/>
        <a:lstStyle/>
        <a:p>
          <a:endParaRPr lang="en-US"/>
        </a:p>
      </dgm:t>
    </dgm:pt>
    <dgm:pt modelId="{1C723C16-5ADA-420B-9F83-D74429B375A8}" type="sibTrans" cxnId="{AF24542C-F70F-42E5-9072-27BE85A709E9}">
      <dgm:prSet/>
      <dgm:spPr/>
      <dgm:t>
        <a:bodyPr/>
        <a:lstStyle/>
        <a:p>
          <a:endParaRPr lang="en-US"/>
        </a:p>
      </dgm:t>
    </dgm:pt>
    <dgm:pt modelId="{F720E70D-2EBA-4001-AB8D-7E2C211E3DE5}">
      <dgm:prSet/>
      <dgm:spPr/>
      <dgm:t>
        <a:bodyPr/>
        <a:lstStyle/>
        <a:p>
          <a:r>
            <a:rPr lang="en-US" b="0" i="0"/>
            <a:t>- Challenges: Large volume, seasonal variations, data privacy, computational efficiency</a:t>
          </a:r>
          <a:endParaRPr lang="en-US"/>
        </a:p>
      </dgm:t>
    </dgm:pt>
    <dgm:pt modelId="{FF347F63-34B0-4390-BB4E-D5C59883BB7A}" type="parTrans" cxnId="{68D39A47-399B-4111-A569-4C93EBCC25A2}">
      <dgm:prSet/>
      <dgm:spPr/>
      <dgm:t>
        <a:bodyPr/>
        <a:lstStyle/>
        <a:p>
          <a:endParaRPr lang="en-US"/>
        </a:p>
      </dgm:t>
    </dgm:pt>
    <dgm:pt modelId="{2CC53763-094B-4FFB-ADC4-80F7F58CE4B4}" type="sibTrans" cxnId="{68D39A47-399B-4111-A569-4C93EBCC25A2}">
      <dgm:prSet/>
      <dgm:spPr/>
      <dgm:t>
        <a:bodyPr/>
        <a:lstStyle/>
        <a:p>
          <a:endParaRPr lang="en-US"/>
        </a:p>
      </dgm:t>
    </dgm:pt>
    <dgm:pt modelId="{BC2775D7-B150-4755-9E2A-0EB4B800A880}" type="pres">
      <dgm:prSet presAssocID="{7534EE4B-81F5-4E11-A1DD-9DE24868B727}" presName="linear" presStyleCnt="0">
        <dgm:presLayoutVars>
          <dgm:animLvl val="lvl"/>
          <dgm:resizeHandles val="exact"/>
        </dgm:presLayoutVars>
      </dgm:prSet>
      <dgm:spPr/>
    </dgm:pt>
    <dgm:pt modelId="{0D706688-7B4E-404E-BEB5-D380A0AAE9F6}" type="pres">
      <dgm:prSet presAssocID="{1106B692-D899-41D6-95EC-1B95E3577078}" presName="parentText" presStyleLbl="node1" presStyleIdx="0" presStyleCnt="3">
        <dgm:presLayoutVars>
          <dgm:chMax val="0"/>
          <dgm:bulletEnabled val="1"/>
        </dgm:presLayoutVars>
      </dgm:prSet>
      <dgm:spPr/>
    </dgm:pt>
    <dgm:pt modelId="{91BCB0F8-DFBB-4399-9D24-DD9D6031A8B9}" type="pres">
      <dgm:prSet presAssocID="{0CD6BE73-B502-4F37-BC9E-F35B578DE3F4}" presName="spacer" presStyleCnt="0"/>
      <dgm:spPr/>
    </dgm:pt>
    <dgm:pt modelId="{C4F27F29-4CE3-4F4F-9156-1D9786A260DE}" type="pres">
      <dgm:prSet presAssocID="{B5B289CD-62C8-4C8A-BE37-F71F9D77A5EB}" presName="parentText" presStyleLbl="node1" presStyleIdx="1" presStyleCnt="3">
        <dgm:presLayoutVars>
          <dgm:chMax val="0"/>
          <dgm:bulletEnabled val="1"/>
        </dgm:presLayoutVars>
      </dgm:prSet>
      <dgm:spPr/>
    </dgm:pt>
    <dgm:pt modelId="{262BC273-DD5E-489A-9D78-C6CD8D45BCCE}" type="pres">
      <dgm:prSet presAssocID="{1C723C16-5ADA-420B-9F83-D74429B375A8}" presName="spacer" presStyleCnt="0"/>
      <dgm:spPr/>
    </dgm:pt>
    <dgm:pt modelId="{7C116E70-CCDD-4395-BC78-4BAB11C47F7D}" type="pres">
      <dgm:prSet presAssocID="{F720E70D-2EBA-4001-AB8D-7E2C211E3DE5}" presName="parentText" presStyleLbl="node1" presStyleIdx="2" presStyleCnt="3">
        <dgm:presLayoutVars>
          <dgm:chMax val="0"/>
          <dgm:bulletEnabled val="1"/>
        </dgm:presLayoutVars>
      </dgm:prSet>
      <dgm:spPr/>
    </dgm:pt>
  </dgm:ptLst>
  <dgm:cxnLst>
    <dgm:cxn modelId="{676AE70A-89B2-43F3-B3E2-1E257677FC48}" type="presOf" srcId="{7534EE4B-81F5-4E11-A1DD-9DE24868B727}" destId="{BC2775D7-B150-4755-9E2A-0EB4B800A880}" srcOrd="0" destOrd="0" presId="urn:microsoft.com/office/officeart/2005/8/layout/vList2"/>
    <dgm:cxn modelId="{AF24542C-F70F-42E5-9072-27BE85A709E9}" srcId="{7534EE4B-81F5-4E11-A1DD-9DE24868B727}" destId="{B5B289CD-62C8-4C8A-BE37-F71F9D77A5EB}" srcOrd="1" destOrd="0" parTransId="{6B3169AF-4A1F-4309-A793-32E718C445C3}" sibTransId="{1C723C16-5ADA-420B-9F83-D74429B375A8}"/>
    <dgm:cxn modelId="{15B9DE5F-FC0B-4BBE-8A12-7C53285BF703}" srcId="{7534EE4B-81F5-4E11-A1DD-9DE24868B727}" destId="{1106B692-D899-41D6-95EC-1B95E3577078}" srcOrd="0" destOrd="0" parTransId="{C991465C-9E44-4A68-A58F-349B531E2A33}" sibTransId="{0CD6BE73-B502-4F37-BC9E-F35B578DE3F4}"/>
    <dgm:cxn modelId="{68D39A47-399B-4111-A569-4C93EBCC25A2}" srcId="{7534EE4B-81F5-4E11-A1DD-9DE24868B727}" destId="{F720E70D-2EBA-4001-AB8D-7E2C211E3DE5}" srcOrd="2" destOrd="0" parTransId="{FF347F63-34B0-4390-BB4E-D5C59883BB7A}" sibTransId="{2CC53763-094B-4FFB-ADC4-80F7F58CE4B4}"/>
    <dgm:cxn modelId="{514850DC-94A5-443F-992C-29DFC93D5C65}" type="presOf" srcId="{1106B692-D899-41D6-95EC-1B95E3577078}" destId="{0D706688-7B4E-404E-BEB5-D380A0AAE9F6}" srcOrd="0" destOrd="0" presId="urn:microsoft.com/office/officeart/2005/8/layout/vList2"/>
    <dgm:cxn modelId="{4937BBEF-8C60-42B0-A3EF-C06A4AF45CEE}" type="presOf" srcId="{B5B289CD-62C8-4C8A-BE37-F71F9D77A5EB}" destId="{C4F27F29-4CE3-4F4F-9156-1D9786A260DE}" srcOrd="0" destOrd="0" presId="urn:microsoft.com/office/officeart/2005/8/layout/vList2"/>
    <dgm:cxn modelId="{D62BC3F2-9AA9-45D3-86CE-93EF2E186546}" type="presOf" srcId="{F720E70D-2EBA-4001-AB8D-7E2C211E3DE5}" destId="{7C116E70-CCDD-4395-BC78-4BAB11C47F7D}" srcOrd="0" destOrd="0" presId="urn:microsoft.com/office/officeart/2005/8/layout/vList2"/>
    <dgm:cxn modelId="{A7603AEE-3E6F-4129-9386-B9A90E2A1B8C}" type="presParOf" srcId="{BC2775D7-B150-4755-9E2A-0EB4B800A880}" destId="{0D706688-7B4E-404E-BEB5-D380A0AAE9F6}" srcOrd="0" destOrd="0" presId="urn:microsoft.com/office/officeart/2005/8/layout/vList2"/>
    <dgm:cxn modelId="{AD8577F1-89F0-4FF9-82E4-9F069EEBACDE}" type="presParOf" srcId="{BC2775D7-B150-4755-9E2A-0EB4B800A880}" destId="{91BCB0F8-DFBB-4399-9D24-DD9D6031A8B9}" srcOrd="1" destOrd="0" presId="urn:microsoft.com/office/officeart/2005/8/layout/vList2"/>
    <dgm:cxn modelId="{A1FB13EB-6988-42EE-910F-D12FF170FD73}" type="presParOf" srcId="{BC2775D7-B150-4755-9E2A-0EB4B800A880}" destId="{C4F27F29-4CE3-4F4F-9156-1D9786A260DE}" srcOrd="2" destOrd="0" presId="urn:microsoft.com/office/officeart/2005/8/layout/vList2"/>
    <dgm:cxn modelId="{95DB113A-0F9E-437A-9BDE-85E382863EAD}" type="presParOf" srcId="{BC2775D7-B150-4755-9E2A-0EB4B800A880}" destId="{262BC273-DD5E-489A-9D78-C6CD8D45BCCE}" srcOrd="3" destOrd="0" presId="urn:microsoft.com/office/officeart/2005/8/layout/vList2"/>
    <dgm:cxn modelId="{7D75DB87-1C2D-49B7-BC9B-AF9CB64F76E9}" type="presParOf" srcId="{BC2775D7-B150-4755-9E2A-0EB4B800A880}" destId="{7C116E70-CCDD-4395-BC78-4BAB11C47F7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891377-7945-4B1C-B6F6-CF8618141F99}">
      <dsp:nvSpPr>
        <dsp:cNvPr id="0" name=""/>
        <dsp:cNvSpPr/>
      </dsp:nvSpPr>
      <dsp:spPr>
        <a:xfrm>
          <a:off x="1953" y="1642297"/>
          <a:ext cx="1549517" cy="216932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806" tIns="330200" rIns="120806" bIns="330200" numCol="1" spcCol="1270" anchor="t" anchorCtr="0">
          <a:noAutofit/>
        </a:bodyPr>
        <a:lstStyle/>
        <a:p>
          <a:pPr marL="0" lvl="0" indent="0" algn="l" defTabSz="488950">
            <a:lnSpc>
              <a:spcPct val="90000"/>
            </a:lnSpc>
            <a:spcBef>
              <a:spcPct val="0"/>
            </a:spcBef>
            <a:spcAft>
              <a:spcPct val="35000"/>
            </a:spcAft>
            <a:buNone/>
          </a:pPr>
          <a:r>
            <a:rPr lang="en-US" sz="1100" b="0" i="0" kern="1200"/>
            <a:t>Implement the Apriori algorithm to discover product associations</a:t>
          </a:r>
          <a:endParaRPr lang="en-US" sz="1100" kern="1200"/>
        </a:p>
      </dsp:txBody>
      <dsp:txXfrm>
        <a:off x="1953" y="2466641"/>
        <a:ext cx="1549517" cy="1301594"/>
      </dsp:txXfrm>
    </dsp:sp>
    <dsp:sp modelId="{3BFDDBAE-4F23-4A45-8600-6C33B107078B}">
      <dsp:nvSpPr>
        <dsp:cNvPr id="0" name=""/>
        <dsp:cNvSpPr/>
      </dsp:nvSpPr>
      <dsp:spPr>
        <a:xfrm>
          <a:off x="451313" y="1859230"/>
          <a:ext cx="650797" cy="650797"/>
        </a:xfrm>
        <a:prstGeom prst="ellips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50739" tIns="12700" rIns="50739" bIns="12700" numCol="1" spcCol="1270" anchor="ctr" anchorCtr="0">
          <a:noAutofit/>
        </a:bodyPr>
        <a:lstStyle/>
        <a:p>
          <a:pPr marL="0" lvl="0" indent="0" algn="ctr" defTabSz="1333500">
            <a:lnSpc>
              <a:spcPct val="90000"/>
            </a:lnSpc>
            <a:spcBef>
              <a:spcPct val="0"/>
            </a:spcBef>
            <a:spcAft>
              <a:spcPct val="35000"/>
            </a:spcAft>
            <a:buNone/>
          </a:pPr>
          <a:r>
            <a:rPr lang="en-US" sz="3000" kern="1200"/>
            <a:t>1</a:t>
          </a:r>
        </a:p>
      </dsp:txBody>
      <dsp:txXfrm>
        <a:off x="546620" y="1954537"/>
        <a:ext cx="460183" cy="460183"/>
      </dsp:txXfrm>
    </dsp:sp>
    <dsp:sp modelId="{0480CF9D-E0DA-4DD9-8484-301F5B10ABAB}">
      <dsp:nvSpPr>
        <dsp:cNvPr id="0" name=""/>
        <dsp:cNvSpPr/>
      </dsp:nvSpPr>
      <dsp:spPr>
        <a:xfrm>
          <a:off x="1953" y="3811550"/>
          <a:ext cx="1549517" cy="72"/>
        </a:xfrm>
        <a:prstGeom prst="rect">
          <a:avLst/>
        </a:prstGeom>
        <a:gradFill rotWithShape="0">
          <a:gsLst>
            <a:gs pos="0">
              <a:schemeClr val="accent5">
                <a:hueOff val="-1736021"/>
                <a:satOff val="-118"/>
                <a:lumOff val="280"/>
                <a:alphaOff val="0"/>
                <a:satMod val="103000"/>
                <a:lumMod val="102000"/>
                <a:tint val="94000"/>
              </a:schemeClr>
            </a:gs>
            <a:gs pos="50000">
              <a:schemeClr val="accent5">
                <a:hueOff val="-1736021"/>
                <a:satOff val="-118"/>
                <a:lumOff val="280"/>
                <a:alphaOff val="0"/>
                <a:satMod val="110000"/>
                <a:lumMod val="100000"/>
                <a:shade val="100000"/>
              </a:schemeClr>
            </a:gs>
            <a:gs pos="100000">
              <a:schemeClr val="accent5">
                <a:hueOff val="-1736021"/>
                <a:satOff val="-118"/>
                <a:lumOff val="280"/>
                <a:alphaOff val="0"/>
                <a:lumMod val="99000"/>
                <a:satMod val="120000"/>
                <a:shade val="78000"/>
              </a:schemeClr>
            </a:gs>
          </a:gsLst>
          <a:lin ang="5400000" scaled="0"/>
        </a:gradFill>
        <a:ln w="12700" cap="flat" cmpd="sng" algn="ctr">
          <a:solidFill>
            <a:schemeClr val="accent5">
              <a:hueOff val="-1736021"/>
              <a:satOff val="-118"/>
              <a:lumOff val="28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D627F06-28B3-4A8B-A975-61984FAE5CFF}">
      <dsp:nvSpPr>
        <dsp:cNvPr id="0" name=""/>
        <dsp:cNvSpPr/>
      </dsp:nvSpPr>
      <dsp:spPr>
        <a:xfrm>
          <a:off x="1706422" y="1642297"/>
          <a:ext cx="1549517" cy="2169324"/>
        </a:xfrm>
        <a:prstGeom prst="rect">
          <a:avLst/>
        </a:prstGeom>
        <a:solidFill>
          <a:schemeClr val="accent5">
            <a:tint val="40000"/>
            <a:alpha val="90000"/>
            <a:hueOff val="-3981555"/>
            <a:satOff val="889"/>
            <a:lumOff val="134"/>
            <a:alphaOff val="0"/>
          </a:schemeClr>
        </a:solidFill>
        <a:ln w="12700" cap="flat" cmpd="sng" algn="ctr">
          <a:solidFill>
            <a:schemeClr val="accent5">
              <a:tint val="40000"/>
              <a:alpha val="90000"/>
              <a:hueOff val="-3981555"/>
              <a:satOff val="889"/>
              <a:lumOff val="13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806" tIns="330200" rIns="120806" bIns="330200" numCol="1" spcCol="1270" anchor="t" anchorCtr="0">
          <a:noAutofit/>
        </a:bodyPr>
        <a:lstStyle/>
        <a:p>
          <a:pPr marL="0" lvl="0" indent="0" algn="l" defTabSz="488950">
            <a:lnSpc>
              <a:spcPct val="90000"/>
            </a:lnSpc>
            <a:spcBef>
              <a:spcPct val="0"/>
            </a:spcBef>
            <a:spcAft>
              <a:spcPct val="35000"/>
            </a:spcAft>
            <a:buNone/>
          </a:pPr>
          <a:r>
            <a:rPr lang="en-US" sz="1100" b="0" i="0" kern="1200"/>
            <a:t>Build a Flask-based analytics dashboard to visualize the results</a:t>
          </a:r>
          <a:endParaRPr lang="en-US" sz="1100" kern="1200"/>
        </a:p>
      </dsp:txBody>
      <dsp:txXfrm>
        <a:off x="1706422" y="2466641"/>
        <a:ext cx="1549517" cy="1301594"/>
      </dsp:txXfrm>
    </dsp:sp>
    <dsp:sp modelId="{33B2AA82-C844-453B-A942-9559A002B4E9}">
      <dsp:nvSpPr>
        <dsp:cNvPr id="0" name=""/>
        <dsp:cNvSpPr/>
      </dsp:nvSpPr>
      <dsp:spPr>
        <a:xfrm>
          <a:off x="2155782" y="1859230"/>
          <a:ext cx="650797" cy="650797"/>
        </a:xfrm>
        <a:prstGeom prst="ellipse">
          <a:avLst/>
        </a:prstGeom>
        <a:gradFill rotWithShape="0">
          <a:gsLst>
            <a:gs pos="0">
              <a:schemeClr val="accent5">
                <a:hueOff val="-3472043"/>
                <a:satOff val="-236"/>
                <a:lumOff val="560"/>
                <a:alphaOff val="0"/>
                <a:satMod val="103000"/>
                <a:lumMod val="102000"/>
                <a:tint val="94000"/>
              </a:schemeClr>
            </a:gs>
            <a:gs pos="50000">
              <a:schemeClr val="accent5">
                <a:hueOff val="-3472043"/>
                <a:satOff val="-236"/>
                <a:lumOff val="560"/>
                <a:alphaOff val="0"/>
                <a:satMod val="110000"/>
                <a:lumMod val="100000"/>
                <a:shade val="100000"/>
              </a:schemeClr>
            </a:gs>
            <a:gs pos="100000">
              <a:schemeClr val="accent5">
                <a:hueOff val="-3472043"/>
                <a:satOff val="-236"/>
                <a:lumOff val="560"/>
                <a:alphaOff val="0"/>
                <a:lumMod val="99000"/>
                <a:satMod val="120000"/>
                <a:shade val="78000"/>
              </a:schemeClr>
            </a:gs>
          </a:gsLst>
          <a:lin ang="5400000" scaled="0"/>
        </a:gradFill>
        <a:ln w="12700" cap="flat" cmpd="sng" algn="ctr">
          <a:solidFill>
            <a:schemeClr val="accent5">
              <a:hueOff val="-3472043"/>
              <a:satOff val="-236"/>
              <a:lumOff val="56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50739" tIns="12700" rIns="50739" bIns="12700" numCol="1" spcCol="1270" anchor="ctr" anchorCtr="0">
          <a:noAutofit/>
        </a:bodyPr>
        <a:lstStyle/>
        <a:p>
          <a:pPr marL="0" lvl="0" indent="0" algn="ctr" defTabSz="1333500">
            <a:lnSpc>
              <a:spcPct val="90000"/>
            </a:lnSpc>
            <a:spcBef>
              <a:spcPct val="0"/>
            </a:spcBef>
            <a:spcAft>
              <a:spcPct val="35000"/>
            </a:spcAft>
            <a:buNone/>
          </a:pPr>
          <a:r>
            <a:rPr lang="en-US" sz="3000" kern="1200"/>
            <a:t>2</a:t>
          </a:r>
        </a:p>
      </dsp:txBody>
      <dsp:txXfrm>
        <a:off x="2251089" y="1954537"/>
        <a:ext cx="460183" cy="460183"/>
      </dsp:txXfrm>
    </dsp:sp>
    <dsp:sp modelId="{D582FDAE-EFE3-4ED8-A86F-152FECD0F7EC}">
      <dsp:nvSpPr>
        <dsp:cNvPr id="0" name=""/>
        <dsp:cNvSpPr/>
      </dsp:nvSpPr>
      <dsp:spPr>
        <a:xfrm>
          <a:off x="1706422" y="3811550"/>
          <a:ext cx="1549517" cy="72"/>
        </a:xfrm>
        <a:prstGeom prst="rect">
          <a:avLst/>
        </a:prstGeom>
        <a:gradFill rotWithShape="0">
          <a:gsLst>
            <a:gs pos="0">
              <a:schemeClr val="accent5">
                <a:hueOff val="-5208064"/>
                <a:satOff val="-354"/>
                <a:lumOff val="840"/>
                <a:alphaOff val="0"/>
                <a:satMod val="103000"/>
                <a:lumMod val="102000"/>
                <a:tint val="94000"/>
              </a:schemeClr>
            </a:gs>
            <a:gs pos="50000">
              <a:schemeClr val="accent5">
                <a:hueOff val="-5208064"/>
                <a:satOff val="-354"/>
                <a:lumOff val="840"/>
                <a:alphaOff val="0"/>
                <a:satMod val="110000"/>
                <a:lumMod val="100000"/>
                <a:shade val="100000"/>
              </a:schemeClr>
            </a:gs>
            <a:gs pos="100000">
              <a:schemeClr val="accent5">
                <a:hueOff val="-5208064"/>
                <a:satOff val="-354"/>
                <a:lumOff val="840"/>
                <a:alphaOff val="0"/>
                <a:lumMod val="99000"/>
                <a:satMod val="120000"/>
                <a:shade val="78000"/>
              </a:schemeClr>
            </a:gs>
          </a:gsLst>
          <a:lin ang="5400000" scaled="0"/>
        </a:gradFill>
        <a:ln w="12700" cap="flat" cmpd="sng" algn="ctr">
          <a:solidFill>
            <a:schemeClr val="accent5">
              <a:hueOff val="-5208064"/>
              <a:satOff val="-354"/>
              <a:lumOff val="84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34D809D-6205-484E-9B2F-3B934F198C0D}">
      <dsp:nvSpPr>
        <dsp:cNvPr id="0" name=""/>
        <dsp:cNvSpPr/>
      </dsp:nvSpPr>
      <dsp:spPr>
        <a:xfrm>
          <a:off x="3410892" y="1642297"/>
          <a:ext cx="1549517" cy="2169324"/>
        </a:xfrm>
        <a:prstGeom prst="rect">
          <a:avLst/>
        </a:prstGeom>
        <a:solidFill>
          <a:schemeClr val="accent5">
            <a:tint val="40000"/>
            <a:alpha val="90000"/>
            <a:hueOff val="-7963110"/>
            <a:satOff val="1778"/>
            <a:lumOff val="267"/>
            <a:alphaOff val="0"/>
          </a:schemeClr>
        </a:solidFill>
        <a:ln w="12700" cap="flat" cmpd="sng" algn="ctr">
          <a:solidFill>
            <a:schemeClr val="accent5">
              <a:tint val="40000"/>
              <a:alpha val="90000"/>
              <a:hueOff val="-7963110"/>
              <a:satOff val="1778"/>
              <a:lumOff val="26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806" tIns="330200" rIns="120806" bIns="330200" numCol="1" spcCol="1270" anchor="t" anchorCtr="0">
          <a:noAutofit/>
        </a:bodyPr>
        <a:lstStyle/>
        <a:p>
          <a:pPr marL="0" lvl="0" indent="0" algn="l" defTabSz="488950">
            <a:lnSpc>
              <a:spcPct val="90000"/>
            </a:lnSpc>
            <a:spcBef>
              <a:spcPct val="0"/>
            </a:spcBef>
            <a:spcAft>
              <a:spcPct val="35000"/>
            </a:spcAft>
            <a:buNone/>
          </a:pPr>
          <a:r>
            <a:rPr lang="en-US" sz="1100" b="0" i="0" kern="1200"/>
            <a:t>Generate product recommendations based on association rules</a:t>
          </a:r>
          <a:endParaRPr lang="en-US" sz="1100" kern="1200"/>
        </a:p>
      </dsp:txBody>
      <dsp:txXfrm>
        <a:off x="3410892" y="2466641"/>
        <a:ext cx="1549517" cy="1301594"/>
      </dsp:txXfrm>
    </dsp:sp>
    <dsp:sp modelId="{7EA3A7A6-EC72-4B2C-933C-BE1B4272EC1F}">
      <dsp:nvSpPr>
        <dsp:cNvPr id="0" name=""/>
        <dsp:cNvSpPr/>
      </dsp:nvSpPr>
      <dsp:spPr>
        <a:xfrm>
          <a:off x="3860252" y="1859230"/>
          <a:ext cx="650797" cy="650797"/>
        </a:xfrm>
        <a:prstGeom prst="ellipse">
          <a:avLst/>
        </a:prstGeom>
        <a:gradFill rotWithShape="0">
          <a:gsLst>
            <a:gs pos="0">
              <a:schemeClr val="accent5">
                <a:hueOff val="-6944086"/>
                <a:satOff val="-472"/>
                <a:lumOff val="1121"/>
                <a:alphaOff val="0"/>
                <a:satMod val="103000"/>
                <a:lumMod val="102000"/>
                <a:tint val="94000"/>
              </a:schemeClr>
            </a:gs>
            <a:gs pos="50000">
              <a:schemeClr val="accent5">
                <a:hueOff val="-6944086"/>
                <a:satOff val="-472"/>
                <a:lumOff val="1121"/>
                <a:alphaOff val="0"/>
                <a:satMod val="110000"/>
                <a:lumMod val="100000"/>
                <a:shade val="100000"/>
              </a:schemeClr>
            </a:gs>
            <a:gs pos="100000">
              <a:schemeClr val="accent5">
                <a:hueOff val="-6944086"/>
                <a:satOff val="-472"/>
                <a:lumOff val="1121"/>
                <a:alphaOff val="0"/>
                <a:lumMod val="99000"/>
                <a:satMod val="120000"/>
                <a:shade val="78000"/>
              </a:schemeClr>
            </a:gs>
          </a:gsLst>
          <a:lin ang="5400000" scaled="0"/>
        </a:gradFill>
        <a:ln w="12700" cap="flat" cmpd="sng" algn="ctr">
          <a:solidFill>
            <a:schemeClr val="accent5">
              <a:hueOff val="-6944086"/>
              <a:satOff val="-472"/>
              <a:lumOff val="112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50739" tIns="12700" rIns="50739" bIns="12700" numCol="1" spcCol="1270" anchor="ctr" anchorCtr="0">
          <a:noAutofit/>
        </a:bodyPr>
        <a:lstStyle/>
        <a:p>
          <a:pPr marL="0" lvl="0" indent="0" algn="ctr" defTabSz="1333500">
            <a:lnSpc>
              <a:spcPct val="90000"/>
            </a:lnSpc>
            <a:spcBef>
              <a:spcPct val="0"/>
            </a:spcBef>
            <a:spcAft>
              <a:spcPct val="35000"/>
            </a:spcAft>
            <a:buNone/>
          </a:pPr>
          <a:r>
            <a:rPr lang="en-US" sz="3000" kern="1200"/>
            <a:t>3</a:t>
          </a:r>
        </a:p>
      </dsp:txBody>
      <dsp:txXfrm>
        <a:off x="3955559" y="1954537"/>
        <a:ext cx="460183" cy="460183"/>
      </dsp:txXfrm>
    </dsp:sp>
    <dsp:sp modelId="{FF9CA573-EEA5-4BE3-9815-D4EB08A9C809}">
      <dsp:nvSpPr>
        <dsp:cNvPr id="0" name=""/>
        <dsp:cNvSpPr/>
      </dsp:nvSpPr>
      <dsp:spPr>
        <a:xfrm>
          <a:off x="3410892" y="3811550"/>
          <a:ext cx="1549517" cy="72"/>
        </a:xfrm>
        <a:prstGeom prst="rect">
          <a:avLst/>
        </a:prstGeom>
        <a:gradFill rotWithShape="0">
          <a:gsLst>
            <a:gs pos="0">
              <a:schemeClr val="accent5">
                <a:hueOff val="-8680107"/>
                <a:satOff val="-590"/>
                <a:lumOff val="1401"/>
                <a:alphaOff val="0"/>
                <a:satMod val="103000"/>
                <a:lumMod val="102000"/>
                <a:tint val="94000"/>
              </a:schemeClr>
            </a:gs>
            <a:gs pos="50000">
              <a:schemeClr val="accent5">
                <a:hueOff val="-8680107"/>
                <a:satOff val="-590"/>
                <a:lumOff val="1401"/>
                <a:alphaOff val="0"/>
                <a:satMod val="110000"/>
                <a:lumMod val="100000"/>
                <a:shade val="100000"/>
              </a:schemeClr>
            </a:gs>
            <a:gs pos="100000">
              <a:schemeClr val="accent5">
                <a:hueOff val="-8680107"/>
                <a:satOff val="-590"/>
                <a:lumOff val="1401"/>
                <a:alphaOff val="0"/>
                <a:lumMod val="99000"/>
                <a:satMod val="120000"/>
                <a:shade val="78000"/>
              </a:schemeClr>
            </a:gs>
          </a:gsLst>
          <a:lin ang="5400000" scaled="0"/>
        </a:gradFill>
        <a:ln w="12700" cap="flat" cmpd="sng" algn="ctr">
          <a:solidFill>
            <a:schemeClr val="accent5">
              <a:hueOff val="-8680107"/>
              <a:satOff val="-590"/>
              <a:lumOff val="140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6A8C849C-D495-4B84-8353-C55E7C6E4024}">
      <dsp:nvSpPr>
        <dsp:cNvPr id="0" name=""/>
        <dsp:cNvSpPr/>
      </dsp:nvSpPr>
      <dsp:spPr>
        <a:xfrm>
          <a:off x="5115362" y="1642297"/>
          <a:ext cx="1549517" cy="2169324"/>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0806" tIns="330200" rIns="120806" bIns="330200" numCol="1" spcCol="1270" anchor="t" anchorCtr="0">
          <a:noAutofit/>
        </a:bodyPr>
        <a:lstStyle/>
        <a:p>
          <a:pPr marL="0" lvl="0" indent="0" algn="l" defTabSz="488950">
            <a:lnSpc>
              <a:spcPct val="90000"/>
            </a:lnSpc>
            <a:spcBef>
              <a:spcPct val="0"/>
            </a:spcBef>
            <a:spcAft>
              <a:spcPct val="35000"/>
            </a:spcAft>
            <a:buNone/>
          </a:pPr>
          <a:r>
            <a:rPr lang="en-US" sz="1100" b="0" i="0" kern="1200"/>
            <a:t>Provide actionable insights for business strategy</a:t>
          </a:r>
          <a:endParaRPr lang="en-US" sz="1100" kern="1200"/>
        </a:p>
      </dsp:txBody>
      <dsp:txXfrm>
        <a:off x="5115362" y="2466641"/>
        <a:ext cx="1549517" cy="1301594"/>
      </dsp:txXfrm>
    </dsp:sp>
    <dsp:sp modelId="{FABF3243-F4C4-48B1-AD08-94BDA8047EC8}">
      <dsp:nvSpPr>
        <dsp:cNvPr id="0" name=""/>
        <dsp:cNvSpPr/>
      </dsp:nvSpPr>
      <dsp:spPr>
        <a:xfrm>
          <a:off x="5564722" y="1859230"/>
          <a:ext cx="650797" cy="650797"/>
        </a:xfrm>
        <a:prstGeom prst="ellipse">
          <a:avLst/>
        </a:prstGeom>
        <a:gradFill rotWithShape="0">
          <a:gsLst>
            <a:gs pos="0">
              <a:schemeClr val="accent5">
                <a:hueOff val="-10416129"/>
                <a:satOff val="-708"/>
                <a:lumOff val="1681"/>
                <a:alphaOff val="0"/>
                <a:satMod val="103000"/>
                <a:lumMod val="102000"/>
                <a:tint val="94000"/>
              </a:schemeClr>
            </a:gs>
            <a:gs pos="50000">
              <a:schemeClr val="accent5">
                <a:hueOff val="-10416129"/>
                <a:satOff val="-708"/>
                <a:lumOff val="1681"/>
                <a:alphaOff val="0"/>
                <a:satMod val="110000"/>
                <a:lumMod val="100000"/>
                <a:shade val="100000"/>
              </a:schemeClr>
            </a:gs>
            <a:gs pos="100000">
              <a:schemeClr val="accent5">
                <a:hueOff val="-10416129"/>
                <a:satOff val="-708"/>
                <a:lumOff val="1681"/>
                <a:alphaOff val="0"/>
                <a:lumMod val="99000"/>
                <a:satMod val="120000"/>
                <a:shade val="78000"/>
              </a:schemeClr>
            </a:gs>
          </a:gsLst>
          <a:lin ang="5400000" scaled="0"/>
        </a:gradFill>
        <a:ln w="12700" cap="flat" cmpd="sng" algn="ctr">
          <a:solidFill>
            <a:schemeClr val="accent5">
              <a:hueOff val="-10416129"/>
              <a:satOff val="-708"/>
              <a:lumOff val="168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50739" tIns="12700" rIns="50739" bIns="12700" numCol="1" spcCol="1270" anchor="ctr" anchorCtr="0">
          <a:noAutofit/>
        </a:bodyPr>
        <a:lstStyle/>
        <a:p>
          <a:pPr marL="0" lvl="0" indent="0" algn="ctr" defTabSz="1333500">
            <a:lnSpc>
              <a:spcPct val="90000"/>
            </a:lnSpc>
            <a:spcBef>
              <a:spcPct val="0"/>
            </a:spcBef>
            <a:spcAft>
              <a:spcPct val="35000"/>
            </a:spcAft>
            <a:buNone/>
          </a:pPr>
          <a:r>
            <a:rPr lang="en-US" sz="3000" kern="1200"/>
            <a:t>4</a:t>
          </a:r>
        </a:p>
      </dsp:txBody>
      <dsp:txXfrm>
        <a:off x="5660029" y="1954537"/>
        <a:ext cx="460183" cy="460183"/>
      </dsp:txXfrm>
    </dsp:sp>
    <dsp:sp modelId="{DE4B22AB-322A-4215-8A16-65B1D83AED87}">
      <dsp:nvSpPr>
        <dsp:cNvPr id="0" name=""/>
        <dsp:cNvSpPr/>
      </dsp:nvSpPr>
      <dsp:spPr>
        <a:xfrm>
          <a:off x="5115362" y="3811550"/>
          <a:ext cx="1549517" cy="72"/>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706688-7B4E-404E-BEB5-D380A0AAE9F6}">
      <dsp:nvSpPr>
        <dsp:cNvPr id="0" name=""/>
        <dsp:cNvSpPr/>
      </dsp:nvSpPr>
      <dsp:spPr>
        <a:xfrm>
          <a:off x="0" y="36440"/>
          <a:ext cx="6666833" cy="173415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a:t>- Source: Kaggle e-commerce transaction dataset</a:t>
          </a:r>
          <a:endParaRPr lang="en-US" sz="3100" kern="1200"/>
        </a:p>
      </dsp:txBody>
      <dsp:txXfrm>
        <a:off x="84655" y="121095"/>
        <a:ext cx="6497523" cy="1564849"/>
      </dsp:txXfrm>
    </dsp:sp>
    <dsp:sp modelId="{C4F27F29-4CE3-4F4F-9156-1D9786A260DE}">
      <dsp:nvSpPr>
        <dsp:cNvPr id="0" name=""/>
        <dsp:cNvSpPr/>
      </dsp:nvSpPr>
      <dsp:spPr>
        <a:xfrm>
          <a:off x="0" y="1859880"/>
          <a:ext cx="6666833" cy="1734159"/>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a:t>- Volume: ~50000 transactions over 12 months, 4,000+ unique products</a:t>
          </a:r>
          <a:endParaRPr lang="en-US" sz="3100" kern="1200"/>
        </a:p>
      </dsp:txBody>
      <dsp:txXfrm>
        <a:off x="84655" y="1944535"/>
        <a:ext cx="6497523" cy="1564849"/>
      </dsp:txXfrm>
    </dsp:sp>
    <dsp:sp modelId="{7C116E70-CCDD-4395-BC78-4BAB11C47F7D}">
      <dsp:nvSpPr>
        <dsp:cNvPr id="0" name=""/>
        <dsp:cNvSpPr/>
      </dsp:nvSpPr>
      <dsp:spPr>
        <a:xfrm>
          <a:off x="0" y="3683319"/>
          <a:ext cx="6666833" cy="173415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b="0" i="0" kern="1200"/>
            <a:t>- Challenges: Large volume, seasonal variations, data privacy, computational efficiency</a:t>
          </a:r>
          <a:endParaRPr lang="en-US" sz="3100" kern="1200"/>
        </a:p>
      </dsp:txBody>
      <dsp:txXfrm>
        <a:off x="84655" y="3767974"/>
        <a:ext cx="6497523" cy="1564849"/>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A1E505-254D-4AFB-A41A-618E7A77D70A}"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2229C-F059-493E-8B37-A67C844CBDCC}" type="slidenum">
              <a:rPr lang="en-US" smtClean="0"/>
              <a:t>‹#›</a:t>
            </a:fld>
            <a:endParaRPr lang="en-US"/>
          </a:p>
        </p:txBody>
      </p:sp>
    </p:spTree>
    <p:extLst>
      <p:ext uri="{BB962C8B-B14F-4D97-AF65-F5344CB8AC3E}">
        <p14:creationId xmlns:p14="http://schemas.microsoft.com/office/powerpoint/2010/main" val="2477324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This presentation covers our data science project on Market Basket Analysis for e-commerce. We'll walk through how we discovered product associations in transaction data and how these insights can be applied to improve business outcomes.</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1</a:t>
            </a:fld>
            <a:endParaRPr lang="en-US"/>
          </a:p>
        </p:txBody>
      </p:sp>
    </p:spTree>
    <p:extLst>
      <p:ext uri="{BB962C8B-B14F-4D97-AF65-F5344CB8AC3E}">
        <p14:creationId xmlns:p14="http://schemas.microsoft.com/office/powerpoint/2010/main" val="1962507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Market Basket Analysis addresses a fundamental challenge in e-commerce: understanding which products customers tend to buy together. This knowledge is critical for creating effective cross-selling strategies, improving customer experience through relevant recommendations, and optimizing inventory management. Our primary stakeholders are the marketing and product teams who will implement these insights.</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2</a:t>
            </a:fld>
            <a:endParaRPr lang="en-US"/>
          </a:p>
        </p:txBody>
      </p:sp>
    </p:spTree>
    <p:extLst>
      <p:ext uri="{BB962C8B-B14F-4D97-AF65-F5344CB8AC3E}">
        <p14:creationId xmlns:p14="http://schemas.microsoft.com/office/powerpoint/2010/main" val="3958883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We set clear objectives for this project. First, to implement the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algorithm, which is well-suited for finding frequent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in transaction data. Second, to create a user-friendly dashboard that visualizes these associations. Third, to develop a recommendation system based on the discovered rules. And finally, to translate these technical findings into actionable business strategies.</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3</a:t>
            </a:fld>
            <a:endParaRPr lang="en-US"/>
          </a:p>
        </p:txBody>
      </p:sp>
    </p:spTree>
    <p:extLst>
      <p:ext uri="{BB962C8B-B14F-4D97-AF65-F5344CB8AC3E}">
        <p14:creationId xmlns:p14="http://schemas.microsoft.com/office/powerpoint/2010/main" val="561630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Our data came from a Kaggle dataset containing e-commerce transactions. With half a million transactions spanning a full year and over 4,000 products, we had a robust dataset to work with. However, we faced challenges in processing this volume efficiently while accounting for seasonal patterns. We also needed to ensure our analysis maintained data privacy standards while still providing valuable insights.</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4</a:t>
            </a:fld>
            <a:endParaRPr lang="en-US"/>
          </a:p>
        </p:txBody>
      </p:sp>
    </p:spTree>
    <p:extLst>
      <p:ext uri="{BB962C8B-B14F-4D97-AF65-F5344CB8AC3E}">
        <p14:creationId xmlns:p14="http://schemas.microsoft.com/office/powerpoint/2010/main" val="1896350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836D9-468D-AA0E-8698-053EF782E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ECD6C8-3E5D-8C49-82B5-5FFB815DF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C1F69-95FE-C742-E2E0-A3C379D1A5EC}"/>
              </a:ext>
            </a:extLst>
          </p:cNvPr>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We implemented the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algorithm, which is particularly well-suited for market basket analysis. The algorithm works in steps: first identifying frequent individual items, then extending to larger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and finally generating association rules. We chose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because it's efficient for large transaction datasets and produces rules that are easily understood by business stakeholders. We evaluated our rules using three key metrics: support (how frequently items appear together), confidence (the reliability of the rule), and lift (how much more likely the association is compared to random chance).</a:t>
            </a:r>
            <a:endParaRPr lang="en-US" dirty="0"/>
          </a:p>
        </p:txBody>
      </p:sp>
      <p:sp>
        <p:nvSpPr>
          <p:cNvPr id="4" name="Slide Number Placeholder 3">
            <a:extLst>
              <a:ext uri="{FF2B5EF4-FFF2-40B4-BE49-F238E27FC236}">
                <a16:creationId xmlns:a16="http://schemas.microsoft.com/office/drawing/2014/main" id="{8E2F6080-4067-13FE-D903-A6F9DCB22961}"/>
              </a:ext>
            </a:extLst>
          </p:cNvPr>
          <p:cNvSpPr>
            <a:spLocks noGrp="1"/>
          </p:cNvSpPr>
          <p:nvPr>
            <p:ph type="sldNum" sz="quarter" idx="5"/>
          </p:nvPr>
        </p:nvSpPr>
        <p:spPr/>
        <p:txBody>
          <a:bodyPr/>
          <a:lstStyle/>
          <a:p>
            <a:fld id="{3572229C-F059-493E-8B37-A67C844CBDCC}" type="slidenum">
              <a:rPr lang="en-US" smtClean="0"/>
              <a:t>5</a:t>
            </a:fld>
            <a:endParaRPr lang="en-US"/>
          </a:p>
        </p:txBody>
      </p:sp>
    </p:spTree>
    <p:extLst>
      <p:ext uri="{BB962C8B-B14F-4D97-AF65-F5344CB8AC3E}">
        <p14:creationId xmlns:p14="http://schemas.microsoft.com/office/powerpoint/2010/main" val="3367708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visualization highlights the dominance of fashion in our sales data, which supports prioritizing inventory, bundling, and marketing efforts in that segment. The relatively lower percentages for Auto &amp; Accessories and Electronics indicate opportunities to explore bundling, strategic placement, or targeted promotions to boost performance in these areas.</a:t>
            </a:r>
          </a:p>
          <a:p>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6</a:t>
            </a:fld>
            <a:endParaRPr lang="en-US"/>
          </a:p>
        </p:txBody>
      </p:sp>
    </p:spTree>
    <p:extLst>
      <p:ext uri="{BB962C8B-B14F-4D97-AF65-F5344CB8AC3E}">
        <p14:creationId xmlns:p14="http://schemas.microsoft.com/office/powerpoint/2010/main" val="30445709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D1678-21ED-F866-59D2-DE0B1BBEB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9A200-6FFB-1F7B-696D-038FE6F11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64A13-B276-34BA-2FDF-E293A93331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gender split in sales is fairly balanced, with a slight edge towards male customers. This insight can inform our marketing campaigns and product recommendations — for instance, targeting fashion or auto accessories more toward males, and home &amp; furniture promotions more toward females, depending on deeper product-category preferences. Tailoring strategies based on gender-driven data can improve engagement and conversion rates.</a:t>
            </a:r>
          </a:p>
        </p:txBody>
      </p:sp>
      <p:sp>
        <p:nvSpPr>
          <p:cNvPr id="4" name="Slide Number Placeholder 3">
            <a:extLst>
              <a:ext uri="{FF2B5EF4-FFF2-40B4-BE49-F238E27FC236}">
                <a16:creationId xmlns:a16="http://schemas.microsoft.com/office/drawing/2014/main" id="{C06A8888-5A82-D111-83B7-4459C7101442}"/>
              </a:ext>
            </a:extLst>
          </p:cNvPr>
          <p:cNvSpPr>
            <a:spLocks noGrp="1"/>
          </p:cNvSpPr>
          <p:nvPr>
            <p:ph type="sldNum" sz="quarter" idx="5"/>
          </p:nvPr>
        </p:nvSpPr>
        <p:spPr/>
        <p:txBody>
          <a:bodyPr/>
          <a:lstStyle/>
          <a:p>
            <a:fld id="{3572229C-F059-493E-8B37-A67C844CBDCC}" type="slidenum">
              <a:rPr lang="en-US" smtClean="0"/>
              <a:t>7</a:t>
            </a:fld>
            <a:endParaRPr lang="en-US"/>
          </a:p>
        </p:txBody>
      </p:sp>
    </p:spTree>
    <p:extLst>
      <p:ext uri="{BB962C8B-B14F-4D97-AF65-F5344CB8AC3E}">
        <p14:creationId xmlns:p14="http://schemas.microsoft.com/office/powerpoint/2010/main" val="119244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7CF4A-DBB2-5D0A-698B-705D57853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D6375-637A-9F2B-933E-3789B434B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9811A-6873-FC1D-B0BF-89789DB7CB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shows monthly sales for 2018. Sales started low, peaked in May and November, and showed steady growth overall despite some fluctuations. The trend indicates positive business momentum through the year</a:t>
            </a:r>
          </a:p>
        </p:txBody>
      </p:sp>
      <p:sp>
        <p:nvSpPr>
          <p:cNvPr id="4" name="Slide Number Placeholder 3">
            <a:extLst>
              <a:ext uri="{FF2B5EF4-FFF2-40B4-BE49-F238E27FC236}">
                <a16:creationId xmlns:a16="http://schemas.microsoft.com/office/drawing/2014/main" id="{1695230E-3AB4-1D21-62BF-764F5604A5B9}"/>
              </a:ext>
            </a:extLst>
          </p:cNvPr>
          <p:cNvSpPr>
            <a:spLocks noGrp="1"/>
          </p:cNvSpPr>
          <p:nvPr>
            <p:ph type="sldNum" sz="quarter" idx="5"/>
          </p:nvPr>
        </p:nvSpPr>
        <p:spPr/>
        <p:txBody>
          <a:bodyPr/>
          <a:lstStyle/>
          <a:p>
            <a:fld id="{3572229C-F059-493E-8B37-A67C844CBDCC}" type="slidenum">
              <a:rPr lang="en-US" smtClean="0"/>
              <a:t>8</a:t>
            </a:fld>
            <a:endParaRPr lang="en-US"/>
          </a:p>
        </p:txBody>
      </p:sp>
    </p:spTree>
    <p:extLst>
      <p:ext uri="{BB962C8B-B14F-4D97-AF65-F5344CB8AC3E}">
        <p14:creationId xmlns:p14="http://schemas.microsoft.com/office/powerpoint/2010/main" val="4021991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F8CA3-1576-BB0E-7225-2910F5EAA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41F70-7CC8-26E6-1E47-ECD5A66C31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F12375-54A3-C427-001E-BB36E02A87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pie chart shows our customer segmentation based on RFM—Recency, Frequency, and Monetary value. The segments are well balanced, with nearly equal distribution across Champions, Potential Loyalists, Loyal Customers, At Risk, and those who Need Attention. </a:t>
            </a:r>
            <a:r>
              <a:rPr lang="en-US"/>
              <a:t>This highlights opportunities to engage at-risk groups while continuing to reward our top performers</a:t>
            </a:r>
            <a:endParaRPr lang="en-US" dirty="0"/>
          </a:p>
        </p:txBody>
      </p:sp>
      <p:sp>
        <p:nvSpPr>
          <p:cNvPr id="4" name="Slide Number Placeholder 3">
            <a:extLst>
              <a:ext uri="{FF2B5EF4-FFF2-40B4-BE49-F238E27FC236}">
                <a16:creationId xmlns:a16="http://schemas.microsoft.com/office/drawing/2014/main" id="{4470003E-2D6E-B058-9641-78483D12B97B}"/>
              </a:ext>
            </a:extLst>
          </p:cNvPr>
          <p:cNvSpPr>
            <a:spLocks noGrp="1"/>
          </p:cNvSpPr>
          <p:nvPr>
            <p:ph type="sldNum" sz="quarter" idx="5"/>
          </p:nvPr>
        </p:nvSpPr>
        <p:spPr/>
        <p:txBody>
          <a:bodyPr/>
          <a:lstStyle/>
          <a:p>
            <a:fld id="{3572229C-F059-493E-8B37-A67C844CBDCC}" type="slidenum">
              <a:rPr lang="en-US" smtClean="0"/>
              <a:t>9</a:t>
            </a:fld>
            <a:endParaRPr lang="en-US"/>
          </a:p>
        </p:txBody>
      </p:sp>
    </p:spTree>
    <p:extLst>
      <p:ext uri="{BB962C8B-B14F-4D97-AF65-F5344CB8AC3E}">
        <p14:creationId xmlns:p14="http://schemas.microsoft.com/office/powerpoint/2010/main" val="1856062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We implemented the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algorithm, which is particularly well-suited for market basket analysis. The algorithm works in steps: first identifying frequent individual items, then extending to larger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and finally generating association rules. We chose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because it's efficient for large transaction datasets and produces rules that are easily understood by business stakeholders. We evaluated our rules using three key metrics: support (how frequently items appear together), confidence (the reliability of the rule), and lift (how much more likely the association is compared to random chance).</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10</a:t>
            </a:fld>
            <a:endParaRPr lang="en-US"/>
          </a:p>
        </p:txBody>
      </p:sp>
    </p:spTree>
    <p:extLst>
      <p:ext uri="{BB962C8B-B14F-4D97-AF65-F5344CB8AC3E}">
        <p14:creationId xmlns:p14="http://schemas.microsoft.com/office/powerpoint/2010/main" val="18139073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This slide shows a key function from our implementation. The `</a:t>
            </a:r>
            <a:r>
              <a:rPr lang="en-US" sz="1800" b="0" i="0" u="none" strike="noStrike" dirty="0" err="1">
                <a:solidFill>
                  <a:srgbClr val="000000"/>
                </a:solidFill>
                <a:effectLst/>
                <a:latin typeface="Arial" panose="020B0604020202020204" pitchFamily="34" charset="0"/>
              </a:rPr>
              <a:t>generate_association_rules</a:t>
            </a:r>
            <a:r>
              <a:rPr lang="en-US" sz="1800" b="0" i="0" u="none" strike="noStrike" dirty="0">
                <a:solidFill>
                  <a:srgbClr val="000000"/>
                </a:solidFill>
                <a:effectLst/>
                <a:latin typeface="Arial" panose="020B0604020202020204" pitchFamily="34" charset="0"/>
              </a:rPr>
              <a:t>` function takes the encoded transaction data and applies the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algorithm to find frequent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It then generates association rules based on these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and converts them into a more usable format for our application. The parameters `</a:t>
            </a:r>
            <a:r>
              <a:rPr lang="en-US" sz="1800" b="0" i="0" u="none" strike="noStrike" dirty="0" err="1">
                <a:solidFill>
                  <a:srgbClr val="000000"/>
                </a:solidFill>
                <a:effectLst/>
                <a:latin typeface="Arial" panose="020B0604020202020204" pitchFamily="34" charset="0"/>
              </a:rPr>
              <a:t>min_support</a:t>
            </a:r>
            <a:r>
              <a:rPr lang="en-US" sz="1800" b="0" i="0" u="none" strike="noStrike" dirty="0">
                <a:solidFill>
                  <a:srgbClr val="000000"/>
                </a:solidFill>
                <a:effectLst/>
                <a:latin typeface="Arial" panose="020B0604020202020204" pitchFamily="34" charset="0"/>
              </a:rPr>
              <a:t>` and `</a:t>
            </a:r>
            <a:r>
              <a:rPr lang="en-US" sz="1800" b="0" i="0" u="none" strike="noStrike" dirty="0" err="1">
                <a:solidFill>
                  <a:srgbClr val="000000"/>
                </a:solidFill>
                <a:effectLst/>
                <a:latin typeface="Arial" panose="020B0604020202020204" pitchFamily="34" charset="0"/>
              </a:rPr>
              <a:t>min_threshold</a:t>
            </a:r>
            <a:r>
              <a:rPr lang="en-US" sz="1800" b="0" i="0" u="none" strike="noStrike" dirty="0">
                <a:solidFill>
                  <a:srgbClr val="000000"/>
                </a:solidFill>
                <a:effectLst/>
                <a:latin typeface="Arial" panose="020B0604020202020204" pitchFamily="34" charset="0"/>
              </a:rPr>
              <a:t>` allow us to control the quality and quantity of rules generated.</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11</a:t>
            </a:fld>
            <a:endParaRPr lang="en-US"/>
          </a:p>
        </p:txBody>
      </p:sp>
    </p:spTree>
    <p:extLst>
      <p:ext uri="{BB962C8B-B14F-4D97-AF65-F5344CB8AC3E}">
        <p14:creationId xmlns:p14="http://schemas.microsoft.com/office/powerpoint/2010/main" val="27202709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6E2BA-427C-D015-8D9D-CC521E6B6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5A8C64-BEAD-D210-E89E-50707E769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36608-9555-B607-3A8E-3A607089B458}"/>
              </a:ext>
            </a:extLst>
          </p:cNvPr>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We implemented the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algorithm, which is particularly well-suited for market basket analysis. The algorithm works in steps: first identifying frequent individual items, then extending to larger </a:t>
            </a:r>
            <a:r>
              <a:rPr lang="en-US" sz="1800" b="0" i="0" u="none" strike="noStrike" dirty="0" err="1">
                <a:solidFill>
                  <a:srgbClr val="000000"/>
                </a:solidFill>
                <a:effectLst/>
                <a:latin typeface="Arial" panose="020B0604020202020204" pitchFamily="34" charset="0"/>
              </a:rPr>
              <a:t>itemsets</a:t>
            </a:r>
            <a:r>
              <a:rPr lang="en-US" sz="1800" b="0" i="0" u="none" strike="noStrike" dirty="0">
                <a:solidFill>
                  <a:srgbClr val="000000"/>
                </a:solidFill>
                <a:effectLst/>
                <a:latin typeface="Arial" panose="020B0604020202020204" pitchFamily="34" charset="0"/>
              </a:rPr>
              <a:t>, and finally generating association rules. We chose </a:t>
            </a:r>
            <a:r>
              <a:rPr lang="en-US" sz="1800" b="0" i="0" u="none" strike="noStrike" dirty="0" err="1">
                <a:solidFill>
                  <a:srgbClr val="000000"/>
                </a:solidFill>
                <a:effectLst/>
                <a:latin typeface="Arial" panose="020B0604020202020204" pitchFamily="34" charset="0"/>
              </a:rPr>
              <a:t>Apriori</a:t>
            </a:r>
            <a:r>
              <a:rPr lang="en-US" sz="1800" b="0" i="0" u="none" strike="noStrike" dirty="0">
                <a:solidFill>
                  <a:srgbClr val="000000"/>
                </a:solidFill>
                <a:effectLst/>
                <a:latin typeface="Arial" panose="020B0604020202020204" pitchFamily="34" charset="0"/>
              </a:rPr>
              <a:t> because it's efficient for large transaction datasets and produces rules that are easily understood by business stakeholders. We evaluated our rules using three key metrics: support (how frequently items appear together), confidence (the reliability of the rule), and lift (how much more likely the association is compared to random chance).</a:t>
            </a:r>
            <a:endParaRPr lang="en-US" dirty="0"/>
          </a:p>
        </p:txBody>
      </p:sp>
      <p:sp>
        <p:nvSpPr>
          <p:cNvPr id="4" name="Slide Number Placeholder 3">
            <a:extLst>
              <a:ext uri="{FF2B5EF4-FFF2-40B4-BE49-F238E27FC236}">
                <a16:creationId xmlns:a16="http://schemas.microsoft.com/office/drawing/2014/main" id="{91DE986A-C89C-89F3-4D34-8CA67A7E22E7}"/>
              </a:ext>
            </a:extLst>
          </p:cNvPr>
          <p:cNvSpPr>
            <a:spLocks noGrp="1"/>
          </p:cNvSpPr>
          <p:nvPr>
            <p:ph type="sldNum" sz="quarter" idx="5"/>
          </p:nvPr>
        </p:nvSpPr>
        <p:spPr/>
        <p:txBody>
          <a:bodyPr/>
          <a:lstStyle/>
          <a:p>
            <a:fld id="{3572229C-F059-493E-8B37-A67C844CBDCC}" type="slidenum">
              <a:rPr lang="en-US" smtClean="0"/>
              <a:t>12</a:t>
            </a:fld>
            <a:endParaRPr lang="en-US"/>
          </a:p>
        </p:txBody>
      </p:sp>
    </p:spTree>
    <p:extLst>
      <p:ext uri="{BB962C8B-B14F-4D97-AF65-F5344CB8AC3E}">
        <p14:creationId xmlns:p14="http://schemas.microsoft.com/office/powerpoint/2010/main" val="1155845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In conclusion, our Market Basket Analysis revealed valuable insights that directly address our initial business challenges. We found that strong product associations provide a solid foundation for cross-selling strategies, and our data-driven recommendations led to significant sales increases. We also learned that different product categories require tailored approaches. Moving forward, we recommend implementing our cross-selling suggestions on product and cart pages, creating strategic product bundles, redesigning the store layout based on our findings, and developing targeted marketing campaigns that leverage these product associations.</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13</a:t>
            </a:fld>
            <a:endParaRPr lang="en-US"/>
          </a:p>
        </p:txBody>
      </p:sp>
    </p:spTree>
    <p:extLst>
      <p:ext uri="{BB962C8B-B14F-4D97-AF65-F5344CB8AC3E}">
        <p14:creationId xmlns:p14="http://schemas.microsoft.com/office/powerpoint/2010/main" val="3734338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Arial" panose="020B0604020202020204" pitchFamily="34" charset="0"/>
              </a:rPr>
              <a:t>Thank you for your attention. I'm now happy to answer any questions about our methodology, findings, or recommendations. I can also provide more details on specific aspects of the implementation or business applications if needed.</a:t>
            </a:r>
            <a:endParaRPr lang="en-US" dirty="0"/>
          </a:p>
        </p:txBody>
      </p:sp>
      <p:sp>
        <p:nvSpPr>
          <p:cNvPr id="4" name="Slide Number Placeholder 3"/>
          <p:cNvSpPr>
            <a:spLocks noGrp="1"/>
          </p:cNvSpPr>
          <p:nvPr>
            <p:ph type="sldNum" sz="quarter" idx="5"/>
          </p:nvPr>
        </p:nvSpPr>
        <p:spPr/>
        <p:txBody>
          <a:bodyPr/>
          <a:lstStyle/>
          <a:p>
            <a:fld id="{3572229C-F059-493E-8B37-A67C844CBDCC}" type="slidenum">
              <a:rPr lang="en-US" smtClean="0"/>
              <a:t>14</a:t>
            </a:fld>
            <a:endParaRPr lang="en-US"/>
          </a:p>
        </p:txBody>
      </p:sp>
    </p:spTree>
    <p:extLst>
      <p:ext uri="{BB962C8B-B14F-4D97-AF65-F5344CB8AC3E}">
        <p14:creationId xmlns:p14="http://schemas.microsoft.com/office/powerpoint/2010/main" val="2368468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2966-A76A-36BB-4B31-50E0DEBBA4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0A570F-A5CB-F79F-7FE7-39689C36F6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F6163D-18D8-966F-C9DA-596F8E9D18B8}"/>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53E78ACC-1E47-595F-A07A-001897165D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81E77-1194-3024-7120-E12157C45498}"/>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864242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D14C-C022-F490-5347-D563FA5139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C708B0-4305-4BA7-3DA5-2A7AE7DF58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667AEB-896D-D807-6A3D-C8642B874C87}"/>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5D3E5AB0-A66C-3791-9702-14273DF482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964F9-D561-6E00-7E1E-6142D3E27AEE}"/>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15652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FF851-D0B3-D55C-FAF3-829335005F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A0B6F-9461-C64E-C562-C92A7DF5CB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5AC76A-46EA-F339-8728-BFD6EA49726D}"/>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47EF503C-E4CA-D171-B3A4-5BC3DEAD9D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31206-02A1-78DD-F60C-DECF23EA61ED}"/>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525845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BBA0-9B15-E17D-82CE-B9BC8A2BE8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F56F15-C5B8-BE7B-D992-005BFCE191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2DEC40-F248-E383-CA7E-9DDEBF4113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99DB97-1A35-5A8A-516B-BA9148F6341E}"/>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6" name="Footer Placeholder 5">
            <a:extLst>
              <a:ext uri="{FF2B5EF4-FFF2-40B4-BE49-F238E27FC236}">
                <a16:creationId xmlns:a16="http://schemas.microsoft.com/office/drawing/2014/main" id="{258E65D6-FBA9-4E7F-949B-46C557A8BC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2906C-5396-E605-27F9-DBE0795363B0}"/>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2140213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BF26F-DC31-1806-9A44-9A7FFD733B2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3B72F7-6871-BD49-8592-A0E6D3409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C039A-1630-0A12-B03A-7F1D4B11DE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8C3F12-5309-E95C-75EA-E877634621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856E7D-181B-93A8-3BB8-2441C3DB5C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F4FBE-EC75-CB6D-BD60-FBD7829FABCC}"/>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8" name="Footer Placeholder 7">
            <a:extLst>
              <a:ext uri="{FF2B5EF4-FFF2-40B4-BE49-F238E27FC236}">
                <a16:creationId xmlns:a16="http://schemas.microsoft.com/office/drawing/2014/main" id="{8AE6AC46-E2E7-4099-943B-573787815B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87E5DB-B764-7745-338A-D3A778EA81AD}"/>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1663965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658CA-E30A-B612-BA8C-02947FEBD5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966D4A-ADDE-D932-FC66-E5C6CBB91EFC}"/>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4" name="Footer Placeholder 3">
            <a:extLst>
              <a:ext uri="{FF2B5EF4-FFF2-40B4-BE49-F238E27FC236}">
                <a16:creationId xmlns:a16="http://schemas.microsoft.com/office/drawing/2014/main" id="{5D591976-C815-FCDA-A230-88E63D7D0D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F91D1B-9522-D915-C326-46B8D2F311B1}"/>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957084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8AB3A4-14FD-CF2F-D06A-594A0DF53202}"/>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3" name="Footer Placeholder 2">
            <a:extLst>
              <a:ext uri="{FF2B5EF4-FFF2-40B4-BE49-F238E27FC236}">
                <a16:creationId xmlns:a16="http://schemas.microsoft.com/office/drawing/2014/main" id="{369BA3B9-0F57-75E7-143F-C38AAD69CE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E2174A-616B-3040-616B-16EEE5928EE5}"/>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648609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AE4C-79CA-EC0E-7191-3A635055B1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450B22-F582-4F3C-17FC-20DB490515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E2E84E-92AD-BA1D-5427-E989BA24D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9BFF8F-FD04-1B93-5D9B-D6724337C8DB}"/>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6" name="Footer Placeholder 5">
            <a:extLst>
              <a:ext uri="{FF2B5EF4-FFF2-40B4-BE49-F238E27FC236}">
                <a16:creationId xmlns:a16="http://schemas.microsoft.com/office/drawing/2014/main" id="{977A0D7E-A8AA-BD08-804D-FEE84EA97D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94668C-763A-2FAA-441A-8E876F98F94A}"/>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178252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E53F-0D8F-0D88-43CA-B666283B3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CCD881-5C40-DAEF-36A3-9ECAF0669F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CCA462-EAC9-61BE-C333-118E094A8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49C6AB-F080-9F82-6A75-F5C8AAE37785}"/>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6" name="Footer Placeholder 5">
            <a:extLst>
              <a:ext uri="{FF2B5EF4-FFF2-40B4-BE49-F238E27FC236}">
                <a16:creationId xmlns:a16="http://schemas.microsoft.com/office/drawing/2014/main" id="{4B1706D3-474A-6F09-31C9-7A8340E5B1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7A5027-AFBD-DE4E-DD28-D163A33206DF}"/>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34476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6F05-C0E0-5D6D-C027-A90A3C2512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DA92BE-7035-B950-BD1C-3E90D8B16B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AA8FC-57F2-F6C4-4F14-6F4B5BF5BAF0}"/>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CFF4ED16-1DA3-F8D2-71F5-8F257C370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5550F1-A28C-D6E2-12EF-6E081EEEF6D9}"/>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4210716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99E6D0-B995-2EFB-4245-9F0F30A63A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E73E37-BC51-EB53-0C44-F1BBCB4E31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8C09A-FA4D-0764-D5A6-6D2FC518A571}"/>
              </a:ext>
            </a:extLst>
          </p:cNvPr>
          <p:cNvSpPr>
            <a:spLocks noGrp="1"/>
          </p:cNvSpPr>
          <p:nvPr>
            <p:ph type="dt" sz="half" idx="10"/>
          </p:nvPr>
        </p:nvSpPr>
        <p:spPr/>
        <p:txBody>
          <a:body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0C5485F8-7B00-1614-F7E4-1181EAF243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511B01-DD20-75FE-FD87-FBA4F8F94AD5}"/>
              </a:ext>
            </a:extLst>
          </p:cNvPr>
          <p:cNvSpPr>
            <a:spLocks noGrp="1"/>
          </p:cNvSpPr>
          <p:nvPr>
            <p:ph type="sldNum" sz="quarter" idx="12"/>
          </p:nvPr>
        </p:nvSpPr>
        <p:spPr/>
        <p:txBody>
          <a:bodyPr/>
          <a:lstStyle/>
          <a:p>
            <a:fld id="{2D542DDA-4243-7B4F-AC08-472006431C4E}" type="slidenum">
              <a:rPr lang="en-US" smtClean="0"/>
              <a:t>‹#›</a:t>
            </a:fld>
            <a:endParaRPr lang="en-US"/>
          </a:p>
        </p:txBody>
      </p:sp>
    </p:spTree>
    <p:extLst>
      <p:ext uri="{BB962C8B-B14F-4D97-AF65-F5344CB8AC3E}">
        <p14:creationId xmlns:p14="http://schemas.microsoft.com/office/powerpoint/2010/main" val="2143404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5DDCD8-F057-7DA9-1029-A79595A34F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668334-51BA-9181-D488-B35D1C347E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5E864-5839-7CC3-8958-84F72F7BA7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F1F96E-62AD-3B49-A6E9-AE320B755994}" type="datetimeFigureOut">
              <a:rPr lang="en-US" smtClean="0"/>
              <a:t>4/14/2025</a:t>
            </a:fld>
            <a:endParaRPr lang="en-US"/>
          </a:p>
        </p:txBody>
      </p:sp>
      <p:sp>
        <p:nvSpPr>
          <p:cNvPr id="5" name="Footer Placeholder 4">
            <a:extLst>
              <a:ext uri="{FF2B5EF4-FFF2-40B4-BE49-F238E27FC236}">
                <a16:creationId xmlns:a16="http://schemas.microsoft.com/office/drawing/2014/main" id="{366E7C63-9CC4-C4D1-5B20-49B0923EFB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F6CE35-DEE0-1DC7-90B9-E900A5E00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542DDA-4243-7B4F-AC08-472006431C4E}" type="slidenum">
              <a:rPr lang="en-US" smtClean="0"/>
              <a:t>‹#›</a:t>
            </a:fld>
            <a:endParaRPr lang="en-US"/>
          </a:p>
        </p:txBody>
      </p:sp>
    </p:spTree>
    <p:extLst>
      <p:ext uri="{BB962C8B-B14F-4D97-AF65-F5344CB8AC3E}">
        <p14:creationId xmlns:p14="http://schemas.microsoft.com/office/powerpoint/2010/main" val="1501245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1BCAA2-E03D-38A2-BD03-74BAC5CB4615}"/>
              </a:ext>
            </a:extLst>
          </p:cNvPr>
          <p:cNvSpPr>
            <a:spLocks noGrp="1"/>
          </p:cNvSpPr>
          <p:nvPr>
            <p:ph type="ctrTitle"/>
          </p:nvPr>
        </p:nvSpPr>
        <p:spPr>
          <a:xfrm>
            <a:off x="5297762" y="640080"/>
            <a:ext cx="6251110" cy="3566160"/>
          </a:xfrm>
        </p:spPr>
        <p:txBody>
          <a:bodyPr anchor="b">
            <a:normAutofit/>
          </a:bodyPr>
          <a:lstStyle/>
          <a:p>
            <a:pPr algn="l" rtl="0">
              <a:spcBef>
                <a:spcPts val="1200"/>
              </a:spcBef>
              <a:spcAft>
                <a:spcPts val="1200"/>
              </a:spcAft>
              <a:buNone/>
            </a:pPr>
            <a:r>
              <a:rPr lang="en-US" sz="5000"/>
              <a:t>Market Basket Analysis</a:t>
            </a:r>
            <a:br>
              <a:rPr lang="en-US" sz="5000"/>
            </a:br>
            <a:r>
              <a:rPr lang="en-US" sz="5000" b="0" i="0" u="none" strike="noStrike">
                <a:effectLst/>
                <a:latin typeface="Arial" panose="020B0604020202020204" pitchFamily="34" charset="0"/>
              </a:rPr>
              <a:t> Uncovering product associations to drive sales and enhance customer experience</a:t>
            </a:r>
            <a:endParaRPr lang="en-US" sz="5000"/>
          </a:p>
        </p:txBody>
      </p:sp>
      <p:sp>
        <p:nvSpPr>
          <p:cNvPr id="3" name="Subtitle 2">
            <a:extLst>
              <a:ext uri="{FF2B5EF4-FFF2-40B4-BE49-F238E27FC236}">
                <a16:creationId xmlns:a16="http://schemas.microsoft.com/office/drawing/2014/main" id="{E3176AF5-3DD4-1124-B88F-5A522EB66EC7}"/>
              </a:ext>
            </a:extLst>
          </p:cNvPr>
          <p:cNvSpPr>
            <a:spLocks noGrp="1"/>
          </p:cNvSpPr>
          <p:nvPr>
            <p:ph type="subTitle" idx="1"/>
          </p:nvPr>
        </p:nvSpPr>
        <p:spPr>
          <a:xfrm>
            <a:off x="5297760" y="4636008"/>
            <a:ext cx="6251111" cy="1572768"/>
          </a:xfrm>
        </p:spPr>
        <p:txBody>
          <a:bodyPr>
            <a:normAutofit/>
          </a:bodyPr>
          <a:lstStyle/>
          <a:p>
            <a:pPr algn="l"/>
            <a:r>
              <a:rPr lang="en-US" dirty="0"/>
              <a:t>Your name</a:t>
            </a:r>
            <a:endParaRPr lang="en-US"/>
          </a:p>
          <a:p>
            <a:pPr algn="l"/>
            <a:r>
              <a:rPr lang="en-US" dirty="0"/>
              <a:t>git repo URL</a:t>
            </a:r>
            <a:endParaRPr lang="en-US"/>
          </a:p>
        </p:txBody>
      </p:sp>
      <p:pic>
        <p:nvPicPr>
          <p:cNvPr id="5" name="Picture 4" descr="Shopping cart with boxes">
            <a:extLst>
              <a:ext uri="{FF2B5EF4-FFF2-40B4-BE49-F238E27FC236}">
                <a16:creationId xmlns:a16="http://schemas.microsoft.com/office/drawing/2014/main" id="{19E3FD59-05F2-6C92-946E-128C15E0D45E}"/>
              </a:ext>
            </a:extLst>
          </p:cNvPr>
          <p:cNvPicPr>
            <a:picLocks noChangeAspect="1"/>
          </p:cNvPicPr>
          <p:nvPr/>
        </p:nvPicPr>
        <p:blipFill>
          <a:blip r:embed="rId3"/>
          <a:srcRect l="38517" r="16152"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261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EFDF39-41BC-8C95-8B7D-5F85B4EE5AF1}"/>
              </a:ext>
            </a:extLst>
          </p:cNvPr>
          <p:cNvSpPr>
            <a:spLocks noGrp="1"/>
          </p:cNvSpPr>
          <p:nvPr>
            <p:ph type="title"/>
          </p:nvPr>
        </p:nvSpPr>
        <p:spPr>
          <a:xfrm>
            <a:off x="761800" y="762001"/>
            <a:ext cx="5334197" cy="1708242"/>
          </a:xfrm>
        </p:spPr>
        <p:txBody>
          <a:bodyPr anchor="ctr">
            <a:normAutofit/>
          </a:bodyPr>
          <a:lstStyle/>
          <a:p>
            <a:r>
              <a:rPr lang="en-US" sz="4000" b="1"/>
              <a:t>Introduction / Problem Statement</a:t>
            </a:r>
            <a:endParaRPr lang="en-US" sz="4000"/>
          </a:p>
        </p:txBody>
      </p:sp>
      <p:sp>
        <p:nvSpPr>
          <p:cNvPr id="3" name="Content Placeholder 2">
            <a:extLst>
              <a:ext uri="{FF2B5EF4-FFF2-40B4-BE49-F238E27FC236}">
                <a16:creationId xmlns:a16="http://schemas.microsoft.com/office/drawing/2014/main" id="{7AF2AB0F-2504-931E-7FA9-41664FD7F5B6}"/>
              </a:ext>
            </a:extLst>
          </p:cNvPr>
          <p:cNvSpPr>
            <a:spLocks noGrp="1"/>
          </p:cNvSpPr>
          <p:nvPr>
            <p:ph idx="1"/>
          </p:nvPr>
        </p:nvSpPr>
        <p:spPr>
          <a:xfrm>
            <a:off x="761800" y="2470244"/>
            <a:ext cx="5334197" cy="3769835"/>
          </a:xfrm>
        </p:spPr>
        <p:txBody>
          <a:bodyPr anchor="ctr">
            <a:normAutofit/>
          </a:bodyPr>
          <a:lstStyle/>
          <a:p>
            <a:pPr>
              <a:buNone/>
            </a:pPr>
            <a:r>
              <a:rPr lang="en-US" sz="1300" b="1" i="0">
                <a:effectLst/>
                <a:latin typeface="Arial" panose="020B0604020202020204" pitchFamily="34" charset="0"/>
                <a:cs typeface="Arial" panose="020B0604020202020204" pitchFamily="34" charset="0"/>
              </a:rPr>
              <a:t>What problem are we solving?</a:t>
            </a:r>
          </a:p>
          <a:p>
            <a:pPr>
              <a:buNone/>
            </a:pPr>
            <a:r>
              <a:rPr lang="en-US" sz="1300" b="0" i="0">
                <a:effectLst/>
                <a:latin typeface="Arial" panose="020B0604020202020204" pitchFamily="34" charset="0"/>
                <a:cs typeface="Arial" panose="020B0604020202020204" pitchFamily="34" charset="0"/>
              </a:rPr>
              <a:t>	E-commerce platforms need to understand which products are frequently purchased together to optimize product recommendations, store layouts, and marketing strategies. Market Basket Analysis helps discover these hidden patterns in customer purchasing behavior.</a:t>
            </a:r>
          </a:p>
          <a:p>
            <a:pPr>
              <a:spcBef>
                <a:spcPts val="1200"/>
              </a:spcBef>
              <a:buNone/>
            </a:pPr>
            <a:r>
              <a:rPr lang="en-US" sz="1300" b="1" i="0">
                <a:effectLst/>
                <a:latin typeface="Arial" panose="020B0604020202020204" pitchFamily="34" charset="0"/>
                <a:cs typeface="Arial" panose="020B0604020202020204" pitchFamily="34" charset="0"/>
              </a:rPr>
              <a:t>Why is it important?</a:t>
            </a:r>
          </a:p>
          <a:p>
            <a:pPr>
              <a:spcBef>
                <a:spcPts val="1200"/>
              </a:spcBef>
              <a:buFont typeface="Arial" panose="020B0604020202020204" pitchFamily="34" charset="0"/>
              <a:buChar char="•"/>
            </a:pPr>
            <a:r>
              <a:rPr lang="en-US" sz="1300" b="0" i="0">
                <a:effectLst/>
                <a:latin typeface="Arial" panose="020B0604020202020204" pitchFamily="34" charset="0"/>
                <a:cs typeface="Arial" panose="020B0604020202020204" pitchFamily="34" charset="0"/>
              </a:rPr>
              <a:t>Increases cross-selling opportunities</a:t>
            </a:r>
          </a:p>
          <a:p>
            <a:pPr>
              <a:spcBef>
                <a:spcPts val="600"/>
              </a:spcBef>
              <a:buFont typeface="Arial" panose="020B0604020202020204" pitchFamily="34" charset="0"/>
              <a:buChar char="•"/>
            </a:pPr>
            <a:r>
              <a:rPr lang="en-US" sz="1300" b="0" i="0">
                <a:effectLst/>
                <a:latin typeface="Arial" panose="020B0604020202020204" pitchFamily="34" charset="0"/>
                <a:cs typeface="Arial" panose="020B0604020202020204" pitchFamily="34" charset="0"/>
              </a:rPr>
              <a:t>Improves customer experience through relevant recommendations</a:t>
            </a:r>
          </a:p>
          <a:p>
            <a:pPr>
              <a:spcBef>
                <a:spcPts val="600"/>
              </a:spcBef>
              <a:buFont typeface="Arial" panose="020B0604020202020204" pitchFamily="34" charset="0"/>
              <a:buChar char="•"/>
            </a:pPr>
            <a:r>
              <a:rPr lang="en-US" sz="1300" b="0" i="0">
                <a:effectLst/>
                <a:latin typeface="Arial" panose="020B0604020202020204" pitchFamily="34" charset="0"/>
                <a:cs typeface="Arial" panose="020B0604020202020204" pitchFamily="34" charset="0"/>
              </a:rPr>
              <a:t>Optimizes inventory management</a:t>
            </a:r>
          </a:p>
          <a:p>
            <a:pPr>
              <a:spcBef>
                <a:spcPts val="600"/>
              </a:spcBef>
              <a:buFont typeface="Arial" panose="020B0604020202020204" pitchFamily="34" charset="0"/>
              <a:buChar char="•"/>
            </a:pPr>
            <a:r>
              <a:rPr lang="en-US" sz="1300" b="0" i="0">
                <a:effectLst/>
                <a:latin typeface="Arial" panose="020B0604020202020204" pitchFamily="34" charset="0"/>
                <a:cs typeface="Arial" panose="020B0604020202020204" pitchFamily="34" charset="0"/>
              </a:rPr>
              <a:t>Enhances marketing campaign effectiveness</a:t>
            </a:r>
          </a:p>
          <a:p>
            <a:pPr>
              <a:spcBef>
                <a:spcPts val="1200"/>
              </a:spcBef>
              <a:buNone/>
            </a:pPr>
            <a:r>
              <a:rPr lang="en-US" sz="1300" b="1" i="0">
                <a:effectLst/>
                <a:latin typeface="Arial" panose="020B0604020202020204" pitchFamily="34" charset="0"/>
                <a:cs typeface="Arial" panose="020B0604020202020204" pitchFamily="34" charset="0"/>
              </a:rPr>
              <a:t>Target audience</a:t>
            </a:r>
          </a:p>
          <a:p>
            <a:pPr>
              <a:spcBef>
                <a:spcPts val="1200"/>
              </a:spcBef>
            </a:pPr>
            <a:r>
              <a:rPr lang="en-US" sz="1300" b="0" i="0">
                <a:effectLst/>
                <a:latin typeface="Arial" panose="020B0604020202020204" pitchFamily="34" charset="0"/>
                <a:cs typeface="Arial" panose="020B0604020202020204" pitchFamily="34" charset="0"/>
              </a:rPr>
              <a:t>E-commerce business owners, marketing teams, and product managers who want to leverage transaction data to drive business decisions.</a:t>
            </a:r>
          </a:p>
        </p:txBody>
      </p:sp>
      <p:pic>
        <p:nvPicPr>
          <p:cNvPr id="5" name="Picture 4" descr="Shopping cart with boxes">
            <a:extLst>
              <a:ext uri="{FF2B5EF4-FFF2-40B4-BE49-F238E27FC236}">
                <a16:creationId xmlns:a16="http://schemas.microsoft.com/office/drawing/2014/main" id="{EF996A0A-50D4-2440-0C6D-2A014982A516}"/>
              </a:ext>
            </a:extLst>
          </p:cNvPr>
          <p:cNvPicPr>
            <a:picLocks noChangeAspect="1"/>
          </p:cNvPicPr>
          <p:nvPr/>
        </p:nvPicPr>
        <p:blipFill>
          <a:blip r:embed="rId3"/>
          <a:srcRect l="35264" r="12899"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9288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6EC7C1-80C6-B8C0-4758-438E5ADDC7F9}"/>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Objectives / Research Questions</a:t>
            </a:r>
          </a:p>
        </p:txBody>
      </p:sp>
      <p:graphicFrame>
        <p:nvGraphicFramePr>
          <p:cNvPr id="5" name="Content Placeholder 2">
            <a:extLst>
              <a:ext uri="{FF2B5EF4-FFF2-40B4-BE49-F238E27FC236}">
                <a16:creationId xmlns:a16="http://schemas.microsoft.com/office/drawing/2014/main" id="{1119B2A1-1D5D-E782-AC9E-EA0E891A06DD}"/>
              </a:ext>
            </a:extLst>
          </p:cNvPr>
          <p:cNvGraphicFramePr>
            <a:graphicFrameLocks noGrp="1"/>
          </p:cNvGraphicFramePr>
          <p:nvPr>
            <p:ph idx="1"/>
            <p:extLst>
              <p:ext uri="{D42A27DB-BD31-4B8C-83A1-F6EECF244321}">
                <p14:modId xmlns:p14="http://schemas.microsoft.com/office/powerpoint/2010/main" val="423517428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1221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EA4E0-9E97-ECAF-730E-E706857764F1}"/>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Data Collection &amp; Sources</a:t>
            </a:r>
          </a:p>
        </p:txBody>
      </p:sp>
      <p:graphicFrame>
        <p:nvGraphicFramePr>
          <p:cNvPr id="23" name="Content Placeholder 2">
            <a:extLst>
              <a:ext uri="{FF2B5EF4-FFF2-40B4-BE49-F238E27FC236}">
                <a16:creationId xmlns:a16="http://schemas.microsoft.com/office/drawing/2014/main" id="{2EB56D7B-B1FB-8F8F-5716-B30703DAA50F}"/>
              </a:ext>
            </a:extLst>
          </p:cNvPr>
          <p:cNvGraphicFramePr>
            <a:graphicFrameLocks noGrp="1"/>
          </p:cNvGraphicFramePr>
          <p:nvPr>
            <p:ph idx="1"/>
            <p:extLst>
              <p:ext uri="{D42A27DB-BD31-4B8C-83A1-F6EECF244321}">
                <p14:modId xmlns:p14="http://schemas.microsoft.com/office/powerpoint/2010/main" val="293032025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55070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05F6CF-9890-DB42-7C3C-B91BC220CB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5D1EFF-7AAF-4C39-2AE9-074FE9EF1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8B7E120-1377-4BBD-AA8A-7700204CEB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E80077-E570-EF57-57E7-FB3BFE302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F032012-103A-965A-51B7-29D0403AC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61B42C-E00C-278A-59D3-96A93135F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A3C76C4-955F-EEB0-F508-40FE65EA8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59F71770-1512-F6E5-D290-F358EB888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D7AC63-CCAF-8957-F44B-8A612307D0BB}"/>
              </a:ext>
            </a:extLst>
          </p:cNvPr>
          <p:cNvSpPr>
            <a:spLocks noGrp="1"/>
          </p:cNvSpPr>
          <p:nvPr>
            <p:ph type="title"/>
          </p:nvPr>
        </p:nvSpPr>
        <p:spPr>
          <a:xfrm>
            <a:off x="466722" y="649480"/>
            <a:ext cx="3201366" cy="3387497"/>
          </a:xfrm>
        </p:spPr>
        <p:txBody>
          <a:bodyPr anchor="b">
            <a:normAutofit/>
          </a:bodyPr>
          <a:lstStyle/>
          <a:p>
            <a:pPr algn="r"/>
            <a:r>
              <a:rPr lang="en-US" sz="4000" dirty="0">
                <a:solidFill>
                  <a:schemeClr val="bg1"/>
                </a:solidFill>
              </a:rPr>
              <a:t>Data Cleaning &amp; Preparation</a:t>
            </a:r>
          </a:p>
        </p:txBody>
      </p:sp>
      <p:sp>
        <p:nvSpPr>
          <p:cNvPr id="3" name="Content Placeholder 2">
            <a:extLst>
              <a:ext uri="{FF2B5EF4-FFF2-40B4-BE49-F238E27FC236}">
                <a16:creationId xmlns:a16="http://schemas.microsoft.com/office/drawing/2014/main" id="{FD4FBA85-0129-C03C-D813-20A96E92120D}"/>
              </a:ext>
            </a:extLst>
          </p:cNvPr>
          <p:cNvSpPr>
            <a:spLocks noGrp="1"/>
          </p:cNvSpPr>
          <p:nvPr>
            <p:ph idx="1"/>
          </p:nvPr>
        </p:nvSpPr>
        <p:spPr>
          <a:xfrm>
            <a:off x="4810259" y="649480"/>
            <a:ext cx="6555347" cy="5546047"/>
          </a:xfrm>
        </p:spPr>
        <p:txBody>
          <a:bodyPr anchor="ctr">
            <a:normAutofit/>
          </a:bodyPr>
          <a:lstStyle/>
          <a:p>
            <a:pPr>
              <a:buNone/>
            </a:pPr>
            <a:endParaRPr lang="en-US" sz="1800" b="1" i="0" dirty="0">
              <a:effectLst/>
              <a:latin typeface="Arial" panose="020B0604020202020204" pitchFamily="34" charset="0"/>
              <a:cs typeface="Arial" panose="020B0604020202020204" pitchFamily="34" charset="0"/>
            </a:endParaRPr>
          </a:p>
          <a:p>
            <a:pPr>
              <a:buNone/>
            </a:pPr>
            <a:r>
              <a:rPr lang="en-US" sz="1800" b="1" i="0" dirty="0">
                <a:effectLst/>
                <a:latin typeface="Arial" panose="020B0604020202020204" pitchFamily="34" charset="0"/>
                <a:cs typeface="Arial" panose="020B0604020202020204" pitchFamily="34" charset="0"/>
              </a:rPr>
              <a:t>Data Cleaning</a:t>
            </a:r>
          </a:p>
          <a:p>
            <a:pPr>
              <a:buNone/>
            </a:pPr>
            <a:r>
              <a:rPr lang="en-US" sz="1800" b="0" i="0" dirty="0">
                <a:effectLst/>
                <a:latin typeface="Arial" panose="020B0604020202020204" pitchFamily="34" charset="0"/>
                <a:cs typeface="Arial" panose="020B0604020202020204" pitchFamily="34" charset="0"/>
              </a:rPr>
              <a:t>We implemented a robust data cleaning process to handle:</a:t>
            </a:r>
          </a:p>
          <a:p>
            <a:pPr>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Missing values in transaction records</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Duplicate transactions</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Inconsistent product naming conventions</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Outliers in transaction quantities</a:t>
            </a:r>
          </a:p>
          <a:p>
            <a:pPr>
              <a:spcBef>
                <a:spcPts val="1200"/>
              </a:spcBef>
              <a:buNone/>
            </a:pPr>
            <a:r>
              <a:rPr lang="en-US" sz="1800" b="1" i="0" dirty="0">
                <a:effectLst/>
                <a:latin typeface="Arial" panose="020B0604020202020204" pitchFamily="34" charset="0"/>
                <a:cs typeface="Arial" panose="020B0604020202020204" pitchFamily="34" charset="0"/>
              </a:rPr>
              <a:t>Feature Engineering</a:t>
            </a:r>
          </a:p>
          <a:p>
            <a:pPr>
              <a:spcBef>
                <a:spcPts val="1200"/>
              </a:spcBef>
              <a:buNone/>
            </a:pPr>
            <a:r>
              <a:rPr lang="en-US" sz="1800" b="0" i="0" dirty="0">
                <a:effectLst/>
                <a:latin typeface="Arial" panose="020B0604020202020204" pitchFamily="34" charset="0"/>
                <a:cs typeface="Arial" panose="020B0604020202020204" pitchFamily="34" charset="0"/>
              </a:rPr>
              <a:t>We transformed the raw transaction data into a format suitable for market basket analysis:</a:t>
            </a:r>
          </a:p>
          <a:p>
            <a:pPr>
              <a:spcBef>
                <a:spcPts val="12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Grouped transactions by invoice number</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Created one-hot encoded transaction matrices</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Added time-based features (month, season, day of week)</a:t>
            </a:r>
          </a:p>
          <a:p>
            <a:pPr>
              <a:spcBef>
                <a:spcPts val="600"/>
              </a:spcBef>
              <a:buFont typeface="Arial" panose="020B0604020202020204" pitchFamily="34" charset="0"/>
              <a:buChar char="•"/>
            </a:pPr>
            <a:r>
              <a:rPr lang="en-US" sz="1800" b="0" i="0" dirty="0">
                <a:effectLst/>
                <a:latin typeface="Arial" panose="020B0604020202020204" pitchFamily="34" charset="0"/>
                <a:cs typeface="Arial" panose="020B0604020202020204" pitchFamily="34" charset="0"/>
              </a:rPr>
              <a:t>Segmented customers for targeted analysis</a:t>
            </a:r>
          </a:p>
          <a:p>
            <a:pPr marL="0" indent="0">
              <a:spcBef>
                <a:spcPts val="600"/>
              </a:spcBef>
              <a:buNone/>
            </a:pPr>
            <a:br>
              <a:rPr lang="en-US" sz="1800" b="1" i="0" dirty="0">
                <a:effectLst/>
                <a:latin typeface="Arial" panose="020B0604020202020204" pitchFamily="34" charset="0"/>
                <a:cs typeface="Arial" panose="020B0604020202020204" pitchFamily="34" charset="0"/>
              </a:rPr>
            </a:br>
            <a:endParaRPr lang="en-US" sz="1800" b="1" i="0" dirty="0">
              <a:effectLst/>
              <a:latin typeface="Arial" panose="020B0604020202020204" pitchFamily="34" charset="0"/>
              <a:cs typeface="Arial" panose="020B0604020202020204" pitchFamily="34" charset="0"/>
            </a:endParaRPr>
          </a:p>
          <a:p>
            <a:pPr>
              <a:spcBef>
                <a:spcPts val="1200"/>
              </a:spcBef>
              <a:buNone/>
            </a:pPr>
            <a:endParaRPr lang="en-US" sz="1800" b="1"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574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2DB6-CE57-1184-D2E4-FE873F97FBDF}"/>
              </a:ext>
            </a:extLst>
          </p:cNvPr>
          <p:cNvSpPr>
            <a:spLocks noGrp="1"/>
          </p:cNvSpPr>
          <p:nvPr>
            <p:ph type="title"/>
          </p:nvPr>
        </p:nvSpPr>
        <p:spPr/>
        <p:txBody>
          <a:bodyPr/>
          <a:lstStyle/>
          <a:p>
            <a:r>
              <a:rPr lang="en-US" dirty="0"/>
              <a:t>Exploratory Data Analysis (EDA)</a:t>
            </a:r>
          </a:p>
        </p:txBody>
      </p:sp>
      <p:pic>
        <p:nvPicPr>
          <p:cNvPr id="5" name="Content Placeholder 4">
            <a:extLst>
              <a:ext uri="{FF2B5EF4-FFF2-40B4-BE49-F238E27FC236}">
                <a16:creationId xmlns:a16="http://schemas.microsoft.com/office/drawing/2014/main" id="{AF841745-D1BC-7C43-7359-2B9307EF9370}"/>
              </a:ext>
            </a:extLst>
          </p:cNvPr>
          <p:cNvPicPr>
            <a:picLocks noGrp="1" noChangeAspect="1"/>
          </p:cNvPicPr>
          <p:nvPr>
            <p:ph idx="1"/>
          </p:nvPr>
        </p:nvPicPr>
        <p:blipFill>
          <a:blip r:embed="rId3"/>
          <a:stretch>
            <a:fillRect/>
          </a:stretch>
        </p:blipFill>
        <p:spPr>
          <a:xfrm>
            <a:off x="838200" y="2171627"/>
            <a:ext cx="10515600" cy="3659333"/>
          </a:xfrm>
        </p:spPr>
      </p:pic>
    </p:spTree>
    <p:extLst>
      <p:ext uri="{BB962C8B-B14F-4D97-AF65-F5344CB8AC3E}">
        <p14:creationId xmlns:p14="http://schemas.microsoft.com/office/powerpoint/2010/main" val="2468403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C8782-E36C-7D5F-4FB8-17082B0E9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EFBBE-120B-D92B-6F8E-2CF46C66932C}"/>
              </a:ext>
            </a:extLst>
          </p:cNvPr>
          <p:cNvSpPr>
            <a:spLocks noGrp="1"/>
          </p:cNvSpPr>
          <p:nvPr>
            <p:ph type="title"/>
          </p:nvPr>
        </p:nvSpPr>
        <p:spPr/>
        <p:txBody>
          <a:bodyPr/>
          <a:lstStyle/>
          <a:p>
            <a:r>
              <a:rPr lang="en-US" dirty="0"/>
              <a:t>Exploratory Data Analysis (EDA)</a:t>
            </a:r>
          </a:p>
        </p:txBody>
      </p:sp>
      <p:pic>
        <p:nvPicPr>
          <p:cNvPr id="7" name="Content Placeholder 6">
            <a:extLst>
              <a:ext uri="{FF2B5EF4-FFF2-40B4-BE49-F238E27FC236}">
                <a16:creationId xmlns:a16="http://schemas.microsoft.com/office/drawing/2014/main" id="{ED504315-2E93-4E47-EA82-18708B2699DE}"/>
              </a:ext>
            </a:extLst>
          </p:cNvPr>
          <p:cNvPicPr>
            <a:picLocks noGrp="1" noChangeAspect="1"/>
          </p:cNvPicPr>
          <p:nvPr>
            <p:ph idx="1"/>
          </p:nvPr>
        </p:nvPicPr>
        <p:blipFill>
          <a:blip r:embed="rId3"/>
          <a:stretch>
            <a:fillRect/>
          </a:stretch>
        </p:blipFill>
        <p:spPr>
          <a:xfrm>
            <a:off x="838200" y="1961999"/>
            <a:ext cx="10515600" cy="4078589"/>
          </a:xfrm>
        </p:spPr>
      </p:pic>
    </p:spTree>
    <p:extLst>
      <p:ext uri="{BB962C8B-B14F-4D97-AF65-F5344CB8AC3E}">
        <p14:creationId xmlns:p14="http://schemas.microsoft.com/office/powerpoint/2010/main" val="1017223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A757D-D8BA-1621-5DC0-7F54B9F6D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5AD73-8D16-2A1D-C2CF-8ECFBD338C2E}"/>
              </a:ext>
            </a:extLst>
          </p:cNvPr>
          <p:cNvSpPr>
            <a:spLocks noGrp="1"/>
          </p:cNvSpPr>
          <p:nvPr>
            <p:ph type="title"/>
          </p:nvPr>
        </p:nvSpPr>
        <p:spPr/>
        <p:txBody>
          <a:bodyPr/>
          <a:lstStyle/>
          <a:p>
            <a:r>
              <a:rPr lang="en-US" dirty="0"/>
              <a:t>Exploratory Data Analysis (EDA)</a:t>
            </a:r>
          </a:p>
        </p:txBody>
      </p:sp>
      <p:sp>
        <p:nvSpPr>
          <p:cNvPr id="4" name="Content Placeholder 3">
            <a:extLst>
              <a:ext uri="{FF2B5EF4-FFF2-40B4-BE49-F238E27FC236}">
                <a16:creationId xmlns:a16="http://schemas.microsoft.com/office/drawing/2014/main" id="{BEDE56DA-5ADF-1AE8-F2AC-6C54B349F6E4}"/>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1C41269B-A758-F5E6-2F14-4A7245CA2D6F}"/>
              </a:ext>
            </a:extLst>
          </p:cNvPr>
          <p:cNvPicPr>
            <a:picLocks noChangeAspect="1"/>
          </p:cNvPicPr>
          <p:nvPr/>
        </p:nvPicPr>
        <p:blipFill>
          <a:blip r:embed="rId3"/>
          <a:stretch>
            <a:fillRect/>
          </a:stretch>
        </p:blipFill>
        <p:spPr>
          <a:xfrm>
            <a:off x="0" y="1666130"/>
            <a:ext cx="12192000" cy="4826745"/>
          </a:xfrm>
          <a:prstGeom prst="rect">
            <a:avLst/>
          </a:prstGeom>
        </p:spPr>
      </p:pic>
    </p:spTree>
    <p:extLst>
      <p:ext uri="{BB962C8B-B14F-4D97-AF65-F5344CB8AC3E}">
        <p14:creationId xmlns:p14="http://schemas.microsoft.com/office/powerpoint/2010/main" val="1698274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0F96-A403-393A-A1B5-AE7DCB991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D16D2-90AA-DD1B-99B0-86000CA323D0}"/>
              </a:ext>
            </a:extLst>
          </p:cNvPr>
          <p:cNvSpPr>
            <a:spLocks noGrp="1"/>
          </p:cNvSpPr>
          <p:nvPr>
            <p:ph type="title"/>
          </p:nvPr>
        </p:nvSpPr>
        <p:spPr/>
        <p:txBody>
          <a:bodyPr/>
          <a:lstStyle/>
          <a:p>
            <a:r>
              <a:rPr lang="en-US" dirty="0"/>
              <a:t>Exploratory Data Analysis (EDA)</a:t>
            </a:r>
          </a:p>
        </p:txBody>
      </p:sp>
      <p:pic>
        <p:nvPicPr>
          <p:cNvPr id="5" name="Content Placeholder 4">
            <a:extLst>
              <a:ext uri="{FF2B5EF4-FFF2-40B4-BE49-F238E27FC236}">
                <a16:creationId xmlns:a16="http://schemas.microsoft.com/office/drawing/2014/main" id="{A10A62BB-E217-773B-7D61-C3BFB2C27963}"/>
              </a:ext>
            </a:extLst>
          </p:cNvPr>
          <p:cNvPicPr>
            <a:picLocks noGrp="1" noChangeAspect="1"/>
          </p:cNvPicPr>
          <p:nvPr>
            <p:ph idx="1"/>
          </p:nvPr>
        </p:nvPicPr>
        <p:blipFill>
          <a:blip r:embed="rId3"/>
          <a:stretch>
            <a:fillRect/>
          </a:stretch>
        </p:blipFill>
        <p:spPr>
          <a:xfrm>
            <a:off x="838200" y="1924090"/>
            <a:ext cx="10515600" cy="4154408"/>
          </a:xfrm>
        </p:spPr>
      </p:pic>
    </p:spTree>
    <p:extLst>
      <p:ext uri="{BB962C8B-B14F-4D97-AF65-F5344CB8AC3E}">
        <p14:creationId xmlns:p14="http://schemas.microsoft.com/office/powerpoint/2010/main" val="3927905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A6262A-2F89-B50B-8243-DE23464B465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Modeling / Analysis Techniques</a:t>
            </a:r>
          </a:p>
        </p:txBody>
      </p:sp>
      <p:sp>
        <p:nvSpPr>
          <p:cNvPr id="3" name="Content Placeholder 2">
            <a:extLst>
              <a:ext uri="{FF2B5EF4-FFF2-40B4-BE49-F238E27FC236}">
                <a16:creationId xmlns:a16="http://schemas.microsoft.com/office/drawing/2014/main" id="{10A61754-2EEA-9F95-13DF-C98C52424D83}"/>
              </a:ext>
            </a:extLst>
          </p:cNvPr>
          <p:cNvSpPr>
            <a:spLocks noGrp="1"/>
          </p:cNvSpPr>
          <p:nvPr>
            <p:ph idx="1"/>
          </p:nvPr>
        </p:nvSpPr>
        <p:spPr>
          <a:xfrm>
            <a:off x="4810259" y="649480"/>
            <a:ext cx="6555347" cy="5546047"/>
          </a:xfrm>
        </p:spPr>
        <p:txBody>
          <a:bodyPr anchor="ctr">
            <a:normAutofit/>
          </a:bodyPr>
          <a:lstStyle/>
          <a:p>
            <a:pPr>
              <a:buNone/>
            </a:pPr>
            <a:r>
              <a:rPr lang="en-US" sz="1700" b="1" i="0">
                <a:effectLst/>
                <a:latin typeface="Arial" panose="020B0604020202020204" pitchFamily="34" charset="0"/>
                <a:cs typeface="Arial" panose="020B0604020202020204" pitchFamily="34" charset="0"/>
              </a:rPr>
              <a:t>Agorithms &amp; Methods</a:t>
            </a:r>
          </a:p>
          <a:p>
            <a:pPr>
              <a:buNone/>
            </a:pPr>
            <a:r>
              <a:rPr lang="en-US" sz="1700" b="1" i="0">
                <a:effectLst/>
                <a:latin typeface="Arial" panose="020B0604020202020204" pitchFamily="34" charset="0"/>
                <a:cs typeface="Arial" panose="020B0604020202020204" pitchFamily="34" charset="0"/>
              </a:rPr>
              <a:t>Apriori Algorithm</a:t>
            </a:r>
          </a:p>
          <a:p>
            <a:pPr>
              <a:buNone/>
            </a:pPr>
            <a:r>
              <a:rPr lang="en-US" sz="1700" b="0" i="0">
                <a:effectLst/>
                <a:latin typeface="Arial" panose="020B0604020202020204" pitchFamily="34" charset="0"/>
                <a:cs typeface="Arial" panose="020B0604020202020204" pitchFamily="34" charset="0"/>
              </a:rPr>
              <a:t>We implemented the Apriori algorithm, which follows these steps:</a:t>
            </a:r>
          </a:p>
          <a:p>
            <a:pPr>
              <a:buFont typeface="+mj-lt"/>
              <a:buAutoNum type="arabicPeriod"/>
            </a:pPr>
            <a:r>
              <a:rPr lang="en-US" sz="1700" b="0" i="0">
                <a:effectLst/>
                <a:latin typeface="Arial" panose="020B0604020202020204" pitchFamily="34" charset="0"/>
                <a:cs typeface="Arial" panose="020B0604020202020204" pitchFamily="34" charset="0"/>
              </a:rPr>
              <a:t>Identify frequent individual items that satisfy minimum support</a:t>
            </a:r>
          </a:p>
          <a:p>
            <a:pPr>
              <a:spcBef>
                <a:spcPts val="600"/>
              </a:spcBef>
              <a:buFont typeface="+mj-lt"/>
              <a:buAutoNum type="arabicPeriod"/>
            </a:pPr>
            <a:r>
              <a:rPr lang="en-US" sz="1700" b="0" i="0">
                <a:effectLst/>
                <a:latin typeface="Arial" panose="020B0604020202020204" pitchFamily="34" charset="0"/>
                <a:cs typeface="Arial" panose="020B0604020202020204" pitchFamily="34" charset="0"/>
              </a:rPr>
              <a:t>Extend these items to larger itemsets as long as they appear sufficiently often</a:t>
            </a:r>
          </a:p>
          <a:p>
            <a:pPr>
              <a:spcBef>
                <a:spcPts val="600"/>
              </a:spcBef>
              <a:buFont typeface="+mj-lt"/>
              <a:buAutoNum type="arabicPeriod"/>
            </a:pPr>
            <a:r>
              <a:rPr lang="en-US" sz="1700" b="0" i="0">
                <a:effectLst/>
                <a:latin typeface="Arial" panose="020B0604020202020204" pitchFamily="34" charset="0"/>
                <a:cs typeface="Arial" panose="020B0604020202020204" pitchFamily="34" charset="0"/>
              </a:rPr>
              <a:t>Generate association rules from frequent itemsets that satisfy minimum confidence</a:t>
            </a:r>
          </a:p>
          <a:p>
            <a:pPr>
              <a:spcBef>
                <a:spcPts val="1200"/>
              </a:spcBef>
              <a:buNone/>
            </a:pPr>
            <a:r>
              <a:rPr lang="en-US" sz="1700" b="1" i="0">
                <a:effectLst/>
                <a:latin typeface="Arial" panose="020B0604020202020204" pitchFamily="34" charset="0"/>
                <a:cs typeface="Arial" panose="020B0604020202020204" pitchFamily="34" charset="0"/>
              </a:rPr>
              <a:t>Why Apriori?</a:t>
            </a:r>
          </a:p>
          <a:p>
            <a:pPr>
              <a:spcBef>
                <a:spcPts val="1200"/>
              </a:spcBef>
              <a:buFont typeface="Arial" panose="020B0604020202020204" pitchFamily="34" charset="0"/>
              <a:buChar char="•"/>
            </a:pPr>
            <a:r>
              <a:rPr lang="en-US" sz="1700" b="0" i="0">
                <a:effectLst/>
                <a:latin typeface="Arial" panose="020B0604020202020204" pitchFamily="34" charset="0"/>
                <a:cs typeface="Arial" panose="020B0604020202020204" pitchFamily="34" charset="0"/>
              </a:rPr>
              <a:t>Efficient for large transaction datasets due to the "apriori property"</a:t>
            </a:r>
          </a:p>
          <a:p>
            <a:pPr>
              <a:spcBef>
                <a:spcPts val="600"/>
              </a:spcBef>
              <a:buFont typeface="Arial" panose="020B0604020202020204" pitchFamily="34" charset="0"/>
              <a:buChar char="•"/>
            </a:pPr>
            <a:r>
              <a:rPr lang="en-US" sz="1700" b="0" i="0">
                <a:effectLst/>
                <a:latin typeface="Arial" panose="020B0604020202020204" pitchFamily="34" charset="0"/>
                <a:cs typeface="Arial" panose="020B0604020202020204" pitchFamily="34" charset="0"/>
              </a:rPr>
              <a:t>Produces easily interpretable rules for business stakeholders</a:t>
            </a:r>
          </a:p>
          <a:p>
            <a:pPr>
              <a:spcBef>
                <a:spcPts val="600"/>
              </a:spcBef>
              <a:buFont typeface="Arial" panose="020B0604020202020204" pitchFamily="34" charset="0"/>
              <a:buChar char="•"/>
            </a:pPr>
            <a:r>
              <a:rPr lang="en-US" sz="1700" b="0" i="0">
                <a:effectLst/>
                <a:latin typeface="Arial" panose="020B0604020202020204" pitchFamily="34" charset="0"/>
                <a:cs typeface="Arial" panose="020B0604020202020204" pitchFamily="34" charset="0"/>
              </a:rPr>
              <a:t>Well-established algorithm with proven effectiveness in retail analytics</a:t>
            </a:r>
          </a:p>
          <a:p>
            <a:pPr>
              <a:spcBef>
                <a:spcPts val="600"/>
              </a:spcBef>
              <a:buFont typeface="Arial" panose="020B0604020202020204" pitchFamily="34" charset="0"/>
              <a:buChar char="•"/>
            </a:pPr>
            <a:r>
              <a:rPr lang="en-US" sz="1700" b="0" i="0">
                <a:effectLst/>
                <a:latin typeface="Arial" panose="020B0604020202020204" pitchFamily="34" charset="0"/>
                <a:cs typeface="Arial" panose="020B0604020202020204" pitchFamily="34" charset="0"/>
              </a:rPr>
              <a:t>Flexible parameter tuning to balance between rule quantity and quality</a:t>
            </a:r>
          </a:p>
        </p:txBody>
      </p:sp>
    </p:spTree>
    <p:extLst>
      <p:ext uri="{BB962C8B-B14F-4D97-AF65-F5344CB8AC3E}">
        <p14:creationId xmlns:p14="http://schemas.microsoft.com/office/powerpoint/2010/main" val="3035265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9BCB391-6254-7C7C-40AC-894C0A1A320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kern="1200">
                <a:solidFill>
                  <a:srgbClr val="FFFFFF"/>
                </a:solidFill>
                <a:latin typeface="+mj-lt"/>
                <a:ea typeface="+mj-ea"/>
                <a:cs typeface="+mj-cs"/>
              </a:rPr>
              <a:t>Implementation Code Highlights</a:t>
            </a:r>
          </a:p>
        </p:txBody>
      </p:sp>
      <p:pic>
        <p:nvPicPr>
          <p:cNvPr id="5" name="Content Placeholder 4">
            <a:extLst>
              <a:ext uri="{FF2B5EF4-FFF2-40B4-BE49-F238E27FC236}">
                <a16:creationId xmlns:a16="http://schemas.microsoft.com/office/drawing/2014/main" id="{5C4F276C-11BF-22BE-49AC-0FF88048027F}"/>
              </a:ext>
            </a:extLst>
          </p:cNvPr>
          <p:cNvPicPr>
            <a:picLocks noGrp="1" noChangeAspect="1"/>
          </p:cNvPicPr>
          <p:nvPr>
            <p:ph idx="1"/>
          </p:nvPr>
        </p:nvPicPr>
        <p:blipFill>
          <a:blip r:embed="rId3"/>
          <a:stretch>
            <a:fillRect/>
          </a:stretch>
        </p:blipFill>
        <p:spPr>
          <a:xfrm>
            <a:off x="4651218" y="467208"/>
            <a:ext cx="6928168" cy="5923584"/>
          </a:xfrm>
          <a:prstGeom prst="rect">
            <a:avLst/>
          </a:prstGeom>
        </p:spPr>
      </p:pic>
    </p:spTree>
    <p:extLst>
      <p:ext uri="{BB962C8B-B14F-4D97-AF65-F5344CB8AC3E}">
        <p14:creationId xmlns:p14="http://schemas.microsoft.com/office/powerpoint/2010/main" val="22887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BE89EE-295D-596E-5A19-EB9B300FE6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F8CDAA-BFCE-2DD9-6693-BFF7DDB47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EF085D2-93ED-0148-A954-C53DC8995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84897D-88D1-2E0F-A01B-A6A7D93D83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C3C427-1532-276C-3C44-73281F6ED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6BDAF1-A471-63FB-0FEE-043383C39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B9AD75BF-7CBF-649B-5875-7F92D46896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7F72DFBC-6765-045B-78B8-F78938CFF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D86752-F3C0-ABFF-41C1-AF087C223965}"/>
              </a:ext>
            </a:extLst>
          </p:cNvPr>
          <p:cNvSpPr>
            <a:spLocks noGrp="1"/>
          </p:cNvSpPr>
          <p:nvPr>
            <p:ph type="title"/>
          </p:nvPr>
        </p:nvSpPr>
        <p:spPr>
          <a:xfrm>
            <a:off x="466722" y="586855"/>
            <a:ext cx="3201366" cy="3387497"/>
          </a:xfrm>
        </p:spPr>
        <p:txBody>
          <a:bodyPr anchor="b">
            <a:normAutofit/>
          </a:bodyPr>
          <a:lstStyle/>
          <a:p>
            <a:pPr algn="r"/>
            <a:r>
              <a:rPr lang="en-US" sz="4000" dirty="0">
                <a:solidFill>
                  <a:schemeClr val="bg1"/>
                </a:solidFill>
              </a:rPr>
              <a:t>Business Applications of Association Analysis</a:t>
            </a:r>
          </a:p>
        </p:txBody>
      </p:sp>
      <p:sp>
        <p:nvSpPr>
          <p:cNvPr id="3" name="Content Placeholder 2">
            <a:extLst>
              <a:ext uri="{FF2B5EF4-FFF2-40B4-BE49-F238E27FC236}">
                <a16:creationId xmlns:a16="http://schemas.microsoft.com/office/drawing/2014/main" id="{0AC56269-9F72-4FCA-E363-690A56CC0909}"/>
              </a:ext>
            </a:extLst>
          </p:cNvPr>
          <p:cNvSpPr>
            <a:spLocks noGrp="1"/>
          </p:cNvSpPr>
          <p:nvPr>
            <p:ph idx="1"/>
          </p:nvPr>
        </p:nvSpPr>
        <p:spPr>
          <a:xfrm>
            <a:off x="4810259" y="649480"/>
            <a:ext cx="6555347" cy="5546047"/>
          </a:xfrm>
        </p:spPr>
        <p:txBody>
          <a:bodyPr anchor="ctr">
            <a:normAutofit fontScale="92500" lnSpcReduction="20000"/>
          </a:bodyPr>
          <a:lstStyle/>
          <a:p>
            <a:pPr>
              <a:buNone/>
            </a:pPr>
            <a:br>
              <a:rPr kumimoji="0" lang="en-US" altLang="en-US" sz="1700" b="1" i="0" u="none" strike="noStrike" kern="1200" cap="none" normalizeH="0" baseline="0" dirty="0">
                <a:ln>
                  <a:noFill/>
                </a:ln>
                <a:effectLst/>
                <a:latin typeface="+mj-lt"/>
                <a:ea typeface="+mj-ea"/>
                <a:cs typeface="+mj-cs"/>
              </a:rPr>
            </a:br>
            <a:r>
              <a:rPr kumimoji="0" lang="en-US" altLang="en-US" sz="1700" b="1" i="0" u="none" strike="noStrike" kern="1200" cap="none" normalizeH="0" baseline="0" dirty="0">
                <a:ln>
                  <a:noFill/>
                </a:ln>
                <a:effectLst/>
                <a:latin typeface="+mj-lt"/>
                <a:ea typeface="+mj-ea"/>
                <a:cs typeface="+mj-cs"/>
              </a:rPr>
              <a:t>Product Bundling</a:t>
            </a:r>
            <a:br>
              <a:rPr kumimoji="0" lang="en-US" altLang="en-US" sz="1700" b="1" i="0" u="none" strike="noStrike" kern="1200" cap="none" normalizeH="0" baseline="0" dirty="0">
                <a:ln>
                  <a:noFill/>
                </a:ln>
                <a:effectLst/>
                <a:latin typeface="+mj-lt"/>
                <a:ea typeface="+mj-ea"/>
                <a:cs typeface="+mj-cs"/>
              </a:rPr>
            </a:br>
            <a:br>
              <a:rPr kumimoji="0" lang="en-US" altLang="en-US" sz="1700" b="1" i="0" u="none" strike="noStrike" kern="1200" cap="none" normalizeH="0" baseline="0" dirty="0">
                <a:ln>
                  <a:noFill/>
                </a:ln>
                <a:effectLst/>
                <a:latin typeface="+mj-lt"/>
                <a:ea typeface="+mj-ea"/>
                <a:cs typeface="+mj-cs"/>
              </a:rPr>
            </a:br>
            <a:r>
              <a:rPr kumimoji="0" lang="en-US" altLang="en-US" sz="1700" b="1" i="0" u="none" strike="noStrike" kern="1200" cap="none" normalizeH="0" baseline="0" dirty="0">
                <a:ln>
                  <a:noFill/>
                </a:ln>
                <a:effectLst/>
                <a:latin typeface="+mj-lt"/>
                <a:ea typeface="+mj-ea"/>
                <a:cs typeface="+mj-cs"/>
              </a:rPr>
              <a:t>Tiered discount strategy based on confidence:</a:t>
            </a:r>
            <a:br>
              <a:rPr kumimoji="0" lang="en-US" altLang="en-US" sz="1700" b="1"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90%: 5% discount</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80–90%: 10% discount</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70–80%: 15% discount</a:t>
            </a:r>
            <a:br>
              <a:rPr kumimoji="0" lang="en-US" altLang="en-US" sz="1700" b="0" i="0" u="none" strike="noStrike" kern="1200" cap="none" normalizeH="0" baseline="0" dirty="0">
                <a:ln>
                  <a:noFill/>
                </a:ln>
                <a:effectLst/>
                <a:latin typeface="+mj-lt"/>
                <a:ea typeface="+mj-ea"/>
                <a:cs typeface="+mj-cs"/>
              </a:rPr>
            </a:br>
            <a:br>
              <a:rPr kumimoji="0" lang="en-US" altLang="en-US" sz="1700" b="1" i="0" u="none" strike="noStrike" kern="1200" cap="none" normalizeH="0" baseline="0" dirty="0">
                <a:ln>
                  <a:noFill/>
                </a:ln>
                <a:effectLst/>
                <a:latin typeface="+mj-lt"/>
                <a:ea typeface="+mj-ea"/>
                <a:cs typeface="+mj-cs"/>
              </a:rPr>
            </a:br>
            <a:r>
              <a:rPr kumimoji="0" lang="en-US" altLang="en-US" sz="1700" b="1" i="0" u="none" strike="noStrike" kern="1200" cap="none" normalizeH="0" baseline="0" dirty="0">
                <a:ln>
                  <a:noFill/>
                </a:ln>
                <a:effectLst/>
                <a:latin typeface="+mj-lt"/>
                <a:ea typeface="+mj-ea"/>
                <a:cs typeface="+mj-cs"/>
              </a:rPr>
              <a:t>Store Layout &amp; Marketing</a:t>
            </a:r>
            <a:br>
              <a:rPr kumimoji="0" lang="en-US" altLang="en-US" sz="1700" b="1" i="0" u="none" strike="noStrike" kern="1200" cap="none" normalizeH="0" baseline="0" dirty="0">
                <a:ln>
                  <a:noFill/>
                </a:ln>
                <a:effectLst/>
                <a:latin typeface="+mj-lt"/>
                <a:ea typeface="+mj-ea"/>
                <a:cs typeface="+mj-cs"/>
              </a:rPr>
            </a:br>
            <a:endParaRPr kumimoji="0" lang="en-US" altLang="en-US" sz="1700" b="1" i="0" u="none" strike="noStrike" kern="1200" cap="none" normalizeH="0" baseline="0" dirty="0">
              <a:ln>
                <a:noFill/>
              </a:ln>
              <a:effectLst/>
              <a:latin typeface="+mj-lt"/>
              <a:ea typeface="+mj-ea"/>
              <a:cs typeface="+mj-cs"/>
            </a:endParaRPr>
          </a:p>
          <a:p>
            <a:pPr>
              <a:buNone/>
            </a:pPr>
            <a:r>
              <a:rPr kumimoji="0" lang="en-US" altLang="en-US" sz="1700" b="1" i="0" u="none" strike="noStrike" kern="1200" cap="none" normalizeH="0" baseline="0" dirty="0">
                <a:ln>
                  <a:noFill/>
                </a:ln>
                <a:effectLst/>
                <a:latin typeface="+mj-lt"/>
                <a:ea typeface="+mj-ea"/>
                <a:cs typeface="+mj-cs"/>
              </a:rPr>
              <a:t>	Store Layout Optimization</a:t>
            </a:r>
            <a:r>
              <a:rPr kumimoji="0" lang="en-US" altLang="en-US" sz="1700" b="0" i="0" u="none" strike="noStrike" kern="1200" cap="none" normalizeH="0" baseline="0" dirty="0">
                <a:ln>
                  <a:noFill/>
                </a:ln>
                <a:effectLst/>
                <a:latin typeface="+mj-lt"/>
                <a:ea typeface="+mj-ea"/>
                <a:cs typeface="+mj-cs"/>
              </a:rPr>
              <a:t>:</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Complementary placement for moderate associations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Strategic separation for very strong associations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High-visibility zones for high-lift items</a:t>
            </a:r>
            <a:br>
              <a:rPr kumimoji="0" lang="en-US" altLang="en-US" sz="1700" b="0" i="0" u="none" strike="noStrike" kern="1200" cap="none" normalizeH="0" baseline="0" dirty="0">
                <a:ln>
                  <a:noFill/>
                </a:ln>
                <a:effectLst/>
                <a:latin typeface="+mj-lt"/>
                <a:ea typeface="+mj-ea"/>
                <a:cs typeface="+mj-cs"/>
              </a:rPr>
            </a:br>
            <a:br>
              <a:rPr kumimoji="0" lang="en-US" altLang="en-US" sz="1700" b="0" i="0" u="none" strike="noStrike" kern="1200" cap="none" normalizeH="0" baseline="0" dirty="0">
                <a:ln>
                  <a:noFill/>
                </a:ln>
                <a:effectLst/>
                <a:latin typeface="+mj-lt"/>
                <a:ea typeface="+mj-ea"/>
                <a:cs typeface="+mj-cs"/>
              </a:rPr>
            </a:br>
            <a:r>
              <a:rPr kumimoji="0" lang="en-US" altLang="en-US" sz="1700" b="1" i="0" u="none" strike="noStrike" kern="1200" cap="none" normalizeH="0" baseline="0" dirty="0">
                <a:ln>
                  <a:noFill/>
                </a:ln>
                <a:effectLst/>
                <a:latin typeface="+mj-lt"/>
                <a:ea typeface="+mj-ea"/>
                <a:cs typeface="+mj-cs"/>
              </a:rPr>
              <a:t>Targeted Marketing</a:t>
            </a:r>
            <a:r>
              <a:rPr kumimoji="0" lang="en-US" altLang="en-US" sz="1700" b="0" i="0" u="none" strike="noStrike" kern="1200" cap="none" normalizeH="0" baseline="0" dirty="0">
                <a:ln>
                  <a:noFill/>
                </a:ln>
                <a:effectLst/>
                <a:latin typeface="+mj-lt"/>
                <a:ea typeface="+mj-ea"/>
                <a:cs typeface="+mj-cs"/>
              </a:rPr>
              <a:t>:</a:t>
            </a:r>
            <a:br>
              <a:rPr kumimoji="0" lang="en-US" altLang="en-US" sz="1700" b="0" i="0" u="none" strike="noStrike" kern="1200" cap="none" normalizeH="0" baseline="0" dirty="0">
                <a:ln>
                  <a:noFill/>
                </a:ln>
                <a:effectLst/>
                <a:latin typeface="+mj-lt"/>
                <a:ea typeface="+mj-ea"/>
                <a:cs typeface="+mj-cs"/>
              </a:rPr>
            </a:br>
            <a:endParaRPr kumimoji="0" lang="en-US" altLang="en-US" sz="1700" b="0" i="0" u="none" strike="noStrike" kern="1200" cap="none" normalizeH="0" baseline="0" dirty="0">
              <a:ln>
                <a:noFill/>
              </a:ln>
              <a:effectLst/>
              <a:latin typeface="+mj-lt"/>
              <a:ea typeface="+mj-ea"/>
              <a:cs typeface="+mj-cs"/>
            </a:endParaRPr>
          </a:p>
          <a:p>
            <a:pPr>
              <a:buNone/>
            </a:pPr>
            <a:r>
              <a:rPr lang="en-US" altLang="en-US" sz="1700" dirty="0">
                <a:latin typeface="+mj-lt"/>
                <a:ea typeface="+mj-ea"/>
                <a:cs typeface="+mj-cs"/>
              </a:rPr>
              <a:t>	</a:t>
            </a:r>
            <a:r>
              <a:rPr kumimoji="0" lang="en-US" altLang="en-US" sz="1700" b="0" i="0" u="none" strike="noStrike" kern="1200" cap="none" normalizeH="0" baseline="0" dirty="0">
                <a:ln>
                  <a:noFill/>
                </a:ln>
                <a:effectLst/>
                <a:latin typeface="+mj-lt"/>
                <a:ea typeface="+mj-ea"/>
                <a:cs typeface="+mj-cs"/>
              </a:rPr>
              <a:t>Personalized email campaigns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Segment-based product recommendations</a:t>
            </a:r>
            <a:br>
              <a:rPr kumimoji="0" lang="en-US" altLang="en-US" sz="1700" b="0" i="0" u="none" strike="noStrike" kern="1200" cap="none" normalizeH="0" baseline="0" dirty="0">
                <a:ln>
                  <a:noFill/>
                </a:ln>
                <a:effectLst/>
                <a:latin typeface="+mj-lt"/>
                <a:ea typeface="+mj-ea"/>
                <a:cs typeface="+mj-cs"/>
              </a:rPr>
            </a:br>
            <a:br>
              <a:rPr kumimoji="0" lang="en-US" altLang="en-US" sz="1700" b="1" i="0" u="none" strike="noStrike" kern="1200" cap="none" normalizeH="0" baseline="0" dirty="0">
                <a:ln>
                  <a:noFill/>
                </a:ln>
                <a:effectLst/>
                <a:latin typeface="+mj-lt"/>
                <a:ea typeface="+mj-ea"/>
                <a:cs typeface="+mj-cs"/>
              </a:rPr>
            </a:br>
            <a:r>
              <a:rPr kumimoji="0" lang="en-US" altLang="en-US" sz="1700" b="1" i="0" u="none" strike="noStrike" kern="1200" cap="none" normalizeH="0" baseline="0" dirty="0">
                <a:ln>
                  <a:noFill/>
                </a:ln>
                <a:effectLst/>
                <a:latin typeface="+mj-lt"/>
                <a:ea typeface="+mj-ea"/>
                <a:cs typeface="+mj-cs"/>
              </a:rPr>
              <a:t>Inventory Management</a:t>
            </a:r>
            <a:br>
              <a:rPr kumimoji="0" lang="en-US" altLang="en-US" sz="1700" b="1" i="0" u="none" strike="noStrike" kern="1200" cap="none" normalizeH="0" baseline="0" dirty="0">
                <a:ln>
                  <a:noFill/>
                </a:ln>
                <a:effectLst/>
                <a:latin typeface="+mj-lt"/>
                <a:ea typeface="+mj-ea"/>
                <a:cs typeface="+mj-cs"/>
              </a:rPr>
            </a:br>
            <a:endParaRPr kumimoji="0" lang="en-US" altLang="en-US" sz="1700" b="1" i="0" u="none" strike="noStrike" kern="1200" cap="none" normalizeH="0" baseline="0" dirty="0">
              <a:ln>
                <a:noFill/>
              </a:ln>
              <a:effectLst/>
              <a:latin typeface="+mj-lt"/>
              <a:ea typeface="+mj-ea"/>
              <a:cs typeface="+mj-cs"/>
            </a:endParaRPr>
          </a:p>
          <a:p>
            <a:pPr>
              <a:buNone/>
            </a:pPr>
            <a:r>
              <a:rPr kumimoji="0" lang="en-US" altLang="en-US" sz="1700" b="0" i="0" u="none" strike="noStrike" kern="1200" cap="none" normalizeH="0" baseline="0" dirty="0">
                <a:ln>
                  <a:noFill/>
                </a:ln>
                <a:effectLst/>
                <a:latin typeface="+mj-lt"/>
                <a:ea typeface="+mj-ea"/>
                <a:cs typeface="+mj-cs"/>
              </a:rPr>
              <a:t>	Coordinated stocking of frequently co-purchased items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Demand forecasting for complements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Safety stock for products linked to bestsellers</a:t>
            </a:r>
            <a:br>
              <a:rPr kumimoji="0" lang="en-US" altLang="en-US" sz="1700" b="0" i="0" u="none" strike="noStrike" kern="1200" cap="none" normalizeH="0" baseline="0" dirty="0">
                <a:ln>
                  <a:noFill/>
                </a:ln>
                <a:effectLst/>
                <a:latin typeface="+mj-lt"/>
                <a:ea typeface="+mj-ea"/>
                <a:cs typeface="+mj-cs"/>
              </a:rPr>
            </a:br>
            <a:r>
              <a:rPr kumimoji="0" lang="en-US" altLang="en-US" sz="1700" b="0" i="0" u="none" strike="noStrike" kern="1200" cap="none" normalizeH="0" baseline="0" dirty="0">
                <a:ln>
                  <a:noFill/>
                </a:ln>
                <a:effectLst/>
                <a:latin typeface="+mj-lt"/>
                <a:ea typeface="+mj-ea"/>
                <a:cs typeface="+mj-cs"/>
              </a:rPr>
              <a:t>Seasonal inventory shifts using time-based trends</a:t>
            </a:r>
            <a:endParaRPr lang="en-US" sz="1700" b="0" i="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210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4DF14E-8F26-E05A-D659-B1DE2916FBD7}"/>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Conclusion &amp; Recommendations</a:t>
            </a:r>
          </a:p>
        </p:txBody>
      </p:sp>
      <p:sp>
        <p:nvSpPr>
          <p:cNvPr id="3" name="Content Placeholder 2">
            <a:extLst>
              <a:ext uri="{FF2B5EF4-FFF2-40B4-BE49-F238E27FC236}">
                <a16:creationId xmlns:a16="http://schemas.microsoft.com/office/drawing/2014/main" id="{EDC1138D-AB82-DB40-0C5D-FFF97F9D83D7}"/>
              </a:ext>
            </a:extLst>
          </p:cNvPr>
          <p:cNvSpPr>
            <a:spLocks noGrp="1"/>
          </p:cNvSpPr>
          <p:nvPr>
            <p:ph idx="1"/>
          </p:nvPr>
        </p:nvSpPr>
        <p:spPr>
          <a:xfrm>
            <a:off x="6503158" y="649480"/>
            <a:ext cx="4862447" cy="5546047"/>
          </a:xfrm>
        </p:spPr>
        <p:txBody>
          <a:bodyPr anchor="ctr">
            <a:normAutofit/>
          </a:bodyPr>
          <a:lstStyle/>
          <a:p>
            <a:pPr rtl="0">
              <a:spcBef>
                <a:spcPts val="1200"/>
              </a:spcBef>
              <a:spcAft>
                <a:spcPts val="1200"/>
              </a:spcAft>
              <a:buNone/>
            </a:pPr>
            <a:r>
              <a:rPr lang="en-US" sz="1300" b="1" i="0" u="none" strike="noStrike" dirty="0">
                <a:effectLst/>
                <a:latin typeface="Arial" panose="020B0604020202020204" pitchFamily="34" charset="0"/>
                <a:cs typeface="Arial" panose="020B0604020202020204" pitchFamily="34" charset="0"/>
              </a:rPr>
              <a:t>Conclusion:</a:t>
            </a: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Strong product associations provide foundation for cross selling</a:t>
            </a:r>
            <a:endParaRPr lang="en-US" sz="1300" b="0" dirty="0">
              <a:effectLst/>
              <a:latin typeface="Arial" panose="020B0604020202020204" pitchFamily="34" charset="0"/>
              <a:cs typeface="Arial" panose="020B0604020202020204" pitchFamily="34" charset="0"/>
            </a:endParaRP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Data-driven recommendations significantly increase sales</a:t>
            </a:r>
            <a:endParaRPr lang="en-US" sz="1300" b="0" dirty="0">
              <a:effectLst/>
              <a:latin typeface="Arial" panose="020B0604020202020204" pitchFamily="34" charset="0"/>
              <a:cs typeface="Arial" panose="020B0604020202020204" pitchFamily="34" charset="0"/>
            </a:endParaRP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Different strategies needed for different product categories</a:t>
            </a:r>
          </a:p>
          <a:p>
            <a:pPr rtl="0">
              <a:spcBef>
                <a:spcPts val="1200"/>
              </a:spcBef>
              <a:spcAft>
                <a:spcPts val="1200"/>
              </a:spcAft>
              <a:buNone/>
            </a:pPr>
            <a:r>
              <a:rPr lang="en-US" sz="1300" b="1" i="0" u="none" strike="noStrike" dirty="0">
                <a:effectLst/>
                <a:latin typeface="Arial" panose="020B0604020202020204" pitchFamily="34" charset="0"/>
                <a:cs typeface="Arial" panose="020B0604020202020204" pitchFamily="34" charset="0"/>
              </a:rPr>
              <a:t>Recommendations:</a:t>
            </a: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Implement cross-selling recommendations on product/cart pages</a:t>
            </a:r>
            <a:endParaRPr lang="en-US" sz="1300" b="0" dirty="0">
              <a:effectLst/>
              <a:latin typeface="Arial" panose="020B0604020202020204" pitchFamily="34" charset="0"/>
              <a:cs typeface="Arial" panose="020B0604020202020204" pitchFamily="34" charset="0"/>
            </a:endParaRP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Create bundled offerings with tiered discounts</a:t>
            </a:r>
            <a:endParaRPr lang="en-US" sz="1300" b="0" dirty="0">
              <a:effectLst/>
              <a:latin typeface="Arial" panose="020B0604020202020204" pitchFamily="34" charset="0"/>
              <a:cs typeface="Arial" panose="020B0604020202020204" pitchFamily="34" charset="0"/>
            </a:endParaRP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Redesign store layout based on association patterns</a:t>
            </a:r>
            <a:endParaRPr lang="en-US" sz="1300" b="0" dirty="0">
              <a:effectLst/>
              <a:latin typeface="Arial" panose="020B0604020202020204" pitchFamily="34" charset="0"/>
              <a:cs typeface="Arial" panose="020B0604020202020204" pitchFamily="34" charset="0"/>
            </a:endParaRPr>
          </a:p>
          <a:p>
            <a:pPr rtl="0">
              <a:spcBef>
                <a:spcPts val="1200"/>
              </a:spcBef>
              <a:spcAft>
                <a:spcPts val="1200"/>
              </a:spcAft>
              <a:buNone/>
            </a:pPr>
            <a:r>
              <a:rPr lang="en-US" sz="1300" b="0" i="0" u="none" strike="noStrike" dirty="0">
                <a:effectLst/>
                <a:latin typeface="Arial" panose="020B0604020202020204" pitchFamily="34" charset="0"/>
                <a:cs typeface="Arial" panose="020B0604020202020204" pitchFamily="34" charset="0"/>
              </a:rPr>
              <a:t>- Develop targeted marketing campaigns</a:t>
            </a:r>
            <a:endParaRPr lang="en-US" sz="1300" b="0" dirty="0">
              <a:effectLst/>
              <a:latin typeface="Arial" panose="020B0604020202020204" pitchFamily="34" charset="0"/>
              <a:cs typeface="Arial" panose="020B0604020202020204" pitchFamily="34" charset="0"/>
            </a:endParaRPr>
          </a:p>
          <a:p>
            <a:pPr>
              <a:buNone/>
            </a:pPr>
            <a:br>
              <a:rPr lang="en-US" sz="1300" dirty="0">
                <a:latin typeface="Arial" panose="020B0604020202020204" pitchFamily="34" charset="0"/>
                <a:cs typeface="Arial" panose="020B0604020202020204" pitchFamily="34" charset="0"/>
              </a:rPr>
            </a:br>
            <a:endParaRPr lang="en-US" sz="1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4820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48D9B97-6B18-8155-8BFA-B200E9B08C31}"/>
              </a:ext>
            </a:extLst>
          </p:cNvPr>
          <p:cNvSpPr>
            <a:spLocks noGrp="1"/>
          </p:cNvSpPr>
          <p:nvPr>
            <p:ph type="title"/>
          </p:nvPr>
        </p:nvSpPr>
        <p:spPr>
          <a:xfrm>
            <a:off x="1314824" y="406400"/>
            <a:ext cx="10053763" cy="3257176"/>
          </a:xfrm>
        </p:spPr>
        <p:txBody>
          <a:bodyPr vert="horz" lIns="91440" tIns="45720" rIns="91440" bIns="45720" rtlCol="0" anchor="b">
            <a:normAutofit fontScale="90000"/>
          </a:bodyPr>
          <a:lstStyle/>
          <a:p>
            <a:pPr>
              <a:spcAft>
                <a:spcPts val="1200"/>
              </a:spcAft>
            </a:pPr>
            <a:r>
              <a:rPr lang="en-US" sz="2600" b="0" i="0" u="none" strike="noStrike" kern="1200" dirty="0">
                <a:solidFill>
                  <a:srgbClr val="FFFFFF"/>
                </a:solidFill>
                <a:effectLst/>
                <a:latin typeface="+mj-lt"/>
                <a:ea typeface="+mj-ea"/>
                <a:cs typeface="+mj-cs"/>
              </a:rPr>
              <a:t>					</a:t>
            </a:r>
            <a:br>
              <a:rPr lang="en-US" sz="2600" b="0" i="0" u="none" strike="noStrike" kern="1200" dirty="0">
                <a:solidFill>
                  <a:srgbClr val="FFFFFF"/>
                </a:solidFill>
                <a:effectLst/>
                <a:latin typeface="+mj-lt"/>
                <a:ea typeface="+mj-ea"/>
                <a:cs typeface="+mj-cs"/>
              </a:rPr>
            </a:br>
            <a:br>
              <a:rPr lang="en-US" sz="2600" b="0" i="0" u="none" strike="noStrike" kern="1200" dirty="0">
                <a:solidFill>
                  <a:srgbClr val="FFFFFF"/>
                </a:solidFill>
                <a:effectLst/>
                <a:latin typeface="+mj-lt"/>
                <a:ea typeface="+mj-ea"/>
                <a:cs typeface="+mj-cs"/>
              </a:rPr>
            </a:br>
            <a:r>
              <a:rPr lang="en-US" sz="2600" b="0" i="0" u="none" strike="noStrike" kern="1200" dirty="0">
                <a:solidFill>
                  <a:srgbClr val="FFFFFF"/>
                </a:solidFill>
                <a:effectLst/>
                <a:latin typeface="+mj-lt"/>
                <a:ea typeface="+mj-ea"/>
                <a:cs typeface="+mj-cs"/>
              </a:rPr>
              <a:t>				</a:t>
            </a:r>
            <a:br>
              <a:rPr lang="en-US" sz="2600" b="0" i="0" u="none" strike="noStrike" kern="1200" dirty="0">
                <a:solidFill>
                  <a:srgbClr val="FFFFFF"/>
                </a:solidFill>
                <a:effectLst/>
                <a:latin typeface="+mj-lt"/>
                <a:ea typeface="+mj-ea"/>
                <a:cs typeface="+mj-cs"/>
              </a:rPr>
            </a:br>
            <a:r>
              <a:rPr lang="en-US" sz="2600" b="0" i="0" u="none" strike="noStrike" kern="1200" dirty="0">
                <a:solidFill>
                  <a:srgbClr val="FFFFFF"/>
                </a:solidFill>
                <a:effectLst/>
                <a:latin typeface="+mj-lt"/>
                <a:ea typeface="+mj-ea"/>
                <a:cs typeface="+mj-cs"/>
              </a:rPr>
              <a:t>				</a:t>
            </a:r>
            <a:br>
              <a:rPr lang="en-US" sz="2600" b="0" i="0" u="none" strike="noStrike" kern="1200" dirty="0">
                <a:solidFill>
                  <a:srgbClr val="FFFFFF"/>
                </a:solidFill>
                <a:effectLst/>
                <a:latin typeface="+mj-lt"/>
                <a:ea typeface="+mj-ea"/>
                <a:cs typeface="+mj-cs"/>
              </a:rPr>
            </a:br>
            <a:br>
              <a:rPr lang="en-US" sz="2600" b="0" i="0" u="none" strike="noStrike" kern="1200" dirty="0">
                <a:solidFill>
                  <a:srgbClr val="FFFFFF"/>
                </a:solidFill>
                <a:effectLst/>
                <a:latin typeface="+mj-lt"/>
                <a:ea typeface="+mj-ea"/>
                <a:cs typeface="+mj-cs"/>
              </a:rPr>
            </a:br>
            <a:r>
              <a:rPr lang="en-US" sz="2600" b="0" i="0" u="none" strike="noStrike" kern="1200" dirty="0">
                <a:solidFill>
                  <a:srgbClr val="FFFFFF"/>
                </a:solidFill>
                <a:effectLst/>
                <a:latin typeface="+mj-lt"/>
                <a:ea typeface="+mj-ea"/>
                <a:cs typeface="+mj-cs"/>
              </a:rPr>
              <a:t>				</a:t>
            </a:r>
            <a:br>
              <a:rPr lang="en-US" sz="2600" b="0" i="0" u="none" strike="noStrike" kern="1200" dirty="0">
                <a:solidFill>
                  <a:srgbClr val="FFFFFF"/>
                </a:solidFill>
                <a:effectLst/>
                <a:latin typeface="+mj-lt"/>
                <a:ea typeface="+mj-ea"/>
                <a:cs typeface="+mj-cs"/>
              </a:rPr>
            </a:br>
            <a:br>
              <a:rPr lang="en-US" sz="2600" b="0" i="0" u="none" strike="noStrike" kern="1200" dirty="0">
                <a:solidFill>
                  <a:srgbClr val="FFFFFF"/>
                </a:solidFill>
                <a:effectLst/>
                <a:latin typeface="+mj-lt"/>
                <a:ea typeface="+mj-ea"/>
                <a:cs typeface="+mj-cs"/>
              </a:rPr>
            </a:br>
            <a:r>
              <a:rPr lang="en-US" sz="2600" b="0" i="0" u="none" strike="noStrike" kern="1200" dirty="0">
                <a:solidFill>
                  <a:srgbClr val="FFFFFF"/>
                </a:solidFill>
                <a:effectLst/>
                <a:latin typeface="+mj-lt"/>
                <a:ea typeface="+mj-ea"/>
                <a:cs typeface="+mj-cs"/>
              </a:rPr>
              <a:t>				</a:t>
            </a:r>
            <a:r>
              <a:rPr lang="en-US" sz="4000" b="0" i="0" u="none" strike="noStrike" kern="1200" dirty="0">
                <a:solidFill>
                  <a:srgbClr val="FFFFFF"/>
                </a:solidFill>
                <a:effectLst/>
                <a:latin typeface="+mj-lt"/>
                <a:ea typeface="+mj-ea"/>
                <a:cs typeface="+mj-cs"/>
              </a:rPr>
              <a:t>Thank you!</a:t>
            </a:r>
            <a:br>
              <a:rPr lang="en-US" sz="4000" b="0" kern="1200" dirty="0">
                <a:solidFill>
                  <a:srgbClr val="FFFFFF"/>
                </a:solidFill>
                <a:effectLst/>
                <a:latin typeface="+mj-lt"/>
                <a:ea typeface="+mj-ea"/>
                <a:cs typeface="+mj-cs"/>
              </a:rPr>
            </a:br>
            <a:r>
              <a:rPr lang="en-US" sz="4000" b="0" kern="1200" dirty="0">
                <a:solidFill>
                  <a:srgbClr val="FFFFFF"/>
                </a:solidFill>
                <a:effectLst/>
                <a:latin typeface="+mj-lt"/>
                <a:ea typeface="+mj-ea"/>
                <a:cs typeface="+mj-cs"/>
              </a:rPr>
              <a:t>				</a:t>
            </a:r>
            <a:r>
              <a:rPr lang="en-US" sz="4000" b="0" i="0" u="none" strike="noStrike" kern="1200" dirty="0">
                <a:solidFill>
                  <a:srgbClr val="FFFFFF"/>
                </a:solidFill>
                <a:effectLst/>
                <a:latin typeface="+mj-lt"/>
                <a:ea typeface="+mj-ea"/>
                <a:cs typeface="+mj-cs"/>
              </a:rPr>
              <a:t>Questions?</a:t>
            </a:r>
            <a:br>
              <a:rPr lang="en-US" sz="4000" b="0" kern="1200" dirty="0">
                <a:solidFill>
                  <a:srgbClr val="FFFFFF"/>
                </a:solidFill>
                <a:effectLst/>
                <a:latin typeface="+mj-lt"/>
                <a:ea typeface="+mj-ea"/>
                <a:cs typeface="+mj-cs"/>
              </a:rPr>
            </a:br>
            <a:br>
              <a:rPr lang="en-US" sz="4000"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spTree>
    <p:extLst>
      <p:ext uri="{BB962C8B-B14F-4D97-AF65-F5344CB8AC3E}">
        <p14:creationId xmlns:p14="http://schemas.microsoft.com/office/powerpoint/2010/main" val="718022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982</TotalTime>
  <Words>1566</Words>
  <Application>Microsoft Office PowerPoint</Application>
  <PresentationFormat>Widescreen</PresentationFormat>
  <Paragraphs>103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Market Basket Analysis  Uncovering product associations to drive sales and enhance customer experience</vt:lpstr>
      <vt:lpstr>Introduction / Problem Statement</vt:lpstr>
      <vt:lpstr>Objectives / Research Questions</vt:lpstr>
      <vt:lpstr>Data Collection &amp; Sources</vt:lpstr>
      <vt:lpstr>Data Cleaning &amp; Preparation</vt:lpstr>
      <vt:lpstr>Exploratory Data Analysis (EDA)</vt:lpstr>
      <vt:lpstr>Exploratory Data Analysis (EDA)</vt:lpstr>
      <vt:lpstr>Exploratory Data Analysis (EDA)</vt:lpstr>
      <vt:lpstr>Exploratory Data Analysis (EDA)</vt:lpstr>
      <vt:lpstr>Modeling / Analysis Techniques</vt:lpstr>
      <vt:lpstr>Implementation Code Highlights</vt:lpstr>
      <vt:lpstr>Business Applications of Association Analysis</vt:lpstr>
      <vt:lpstr>Conclusion &amp; Recommendations</vt:lpstr>
      <vt:lpstr>                            Thank you!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Ganis, Prof. Matthew Robert</dc:creator>
  <cp:lastModifiedBy>admin</cp:lastModifiedBy>
  <cp:revision>7</cp:revision>
  <dcterms:created xsi:type="dcterms:W3CDTF">2025-02-27T16:58:38Z</dcterms:created>
  <dcterms:modified xsi:type="dcterms:W3CDTF">2025-04-14T05:59:15Z</dcterms:modified>
</cp:coreProperties>
</file>